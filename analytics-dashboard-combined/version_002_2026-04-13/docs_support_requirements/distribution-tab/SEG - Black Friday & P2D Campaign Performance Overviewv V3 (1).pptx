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52"/>
  </p:notesMasterIdLst>
  <p:sldIdLst>
    <p:sldId id="328" r:id="rId5"/>
    <p:sldId id="257" r:id="rId6"/>
    <p:sldId id="258" r:id="rId7"/>
    <p:sldId id="267" r:id="rId8"/>
    <p:sldId id="268" r:id="rId9"/>
    <p:sldId id="271" r:id="rId10"/>
    <p:sldId id="272" r:id="rId11"/>
    <p:sldId id="273" r:id="rId12"/>
    <p:sldId id="274" r:id="rId13"/>
    <p:sldId id="265" r:id="rId14"/>
    <p:sldId id="266" r:id="rId15"/>
    <p:sldId id="275" r:id="rId16"/>
    <p:sldId id="276" r:id="rId17"/>
    <p:sldId id="329" r:id="rId18"/>
    <p:sldId id="277" r:id="rId19"/>
    <p:sldId id="278" r:id="rId20"/>
    <p:sldId id="315" r:id="rId21"/>
    <p:sldId id="316" r:id="rId22"/>
    <p:sldId id="264" r:id="rId23"/>
    <p:sldId id="313" r:id="rId24"/>
    <p:sldId id="288" r:id="rId25"/>
    <p:sldId id="289" r:id="rId26"/>
    <p:sldId id="317" r:id="rId27"/>
    <p:sldId id="269" r:id="rId28"/>
    <p:sldId id="270" r:id="rId29"/>
    <p:sldId id="318" r:id="rId30"/>
    <p:sldId id="319" r:id="rId31"/>
    <p:sldId id="320" r:id="rId32"/>
    <p:sldId id="321" r:id="rId33"/>
    <p:sldId id="322" r:id="rId34"/>
    <p:sldId id="323" r:id="rId35"/>
    <p:sldId id="324" r:id="rId36"/>
    <p:sldId id="256" r:id="rId37"/>
    <p:sldId id="279" r:id="rId38"/>
    <p:sldId id="280" r:id="rId39"/>
    <p:sldId id="310" r:id="rId40"/>
    <p:sldId id="311" r:id="rId41"/>
    <p:sldId id="312" r:id="rId42"/>
    <p:sldId id="314" r:id="rId43"/>
    <p:sldId id="283" r:id="rId44"/>
    <p:sldId id="284" r:id="rId45"/>
    <p:sldId id="285" r:id="rId46"/>
    <p:sldId id="325" r:id="rId47"/>
    <p:sldId id="326" r:id="rId48"/>
    <p:sldId id="327" r:id="rId49"/>
    <p:sldId id="281" r:id="rId50"/>
    <p:sldId id="282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EB8783"/>
    <a:srgbClr val="E62F28"/>
    <a:srgbClr val="9E9E9E"/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9"/>
    <p:restoredTop sz="59858" autoAdjust="0"/>
  </p:normalViewPr>
  <p:slideViewPr>
    <p:cSldViewPr snapToGrid="0">
      <p:cViewPr varScale="1">
        <p:scale>
          <a:sx n="68" d="100"/>
          <a:sy n="68" d="100"/>
        </p:scale>
        <p:origin x="21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A8D052-97B2-455E-A196-E2E8393EE5E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3D5C28-B8F3-4F38-9446-BF5ABE7A3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692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N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D5C28-B8F3-4F38-9446-BF5ABE7A33E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835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shape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Analytics Title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Ad. Card Quarterly 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Ad. Card Quarterly 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Image - Ideal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slicer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shape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slicer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slicer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Image - Ideal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Ad. Card Digital Circular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image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image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Ad. Card Quarterly 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Ad. Card - CPV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Pie Chart - VF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Ad. Card - Visits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Ad. Card - Time X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Ad. Card - Views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Ad. Card - Minutes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Ad. Card - Clicks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Ad. Card - Impressions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Ad. Card - CTR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Ad. Card - CTR X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cardVisual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cardVisual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image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slicer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slicer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slicer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image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Ad. Card - New Visits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shape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lineChart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lineChart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Ad. Card - Demo Period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Line Chart - CPV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slicer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slicer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lineChart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lineChart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Ad. Card - Demo Period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Line Chart - Visits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slicer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slicer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lineChart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lineChart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Ad. Card - Demo Period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Line Chart - CTR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slicer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slicer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lineChart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lineChart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Ad. Card - Demo Period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Line Chart - Views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slicer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slicer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Ad. Card - Demo Period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slicer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shape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slicer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slicer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Matrix - Store Breakdown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Ad. Card - Demo Period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slicer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image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slicer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slicer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pivotTable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Pie Chart - Gender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Column Chart - Age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Pie Chart - Language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Ad. Card - Demo Period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slicer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Ad. Card - Demo Period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Line Chart - Time Bins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Line Chart - Week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Column Chart - Device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  <a:p>
            <a:r>
              <a:rPr b="1"/>
              <a:t>slicer</a:t>
            </a:r>
            <a:endParaRPr/>
          </a:p>
          <a:p>
            <a:r>
              <a:rPr b="0"/>
              <a:t>No alt text provided</a:t>
            </a:r>
            <a:endParaRPr/>
          </a:p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Pie Chart - Gender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Pie Chart - Language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Pie Chart - Language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Column Chart - Device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Column Chart - 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Column Chart - 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Column Chart - 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Column Chart - 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Column Chart - 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N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D5C28-B8F3-4F38-9446-BF5ABE7A33E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9171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102BC-2E97-051C-1ED9-5FCF5DC04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>
            <a:extLst>
              <a:ext uri="{FF2B5EF4-FFF2-40B4-BE49-F238E27FC236}">
                <a16:creationId xmlns:a16="http://schemas.microsoft.com/office/drawing/2014/main" id="{E27DC589-E08E-B54A-1908-7651ACCB5B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Analytics Title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Quarterly 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Quarterly 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 - Ideal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 - Ideal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Digital Circular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Quarterly 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42995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Ad. Card - CPV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Pie Chart - VF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Visits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Time 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Views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Minutes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Clicks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Impressions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CTR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CTR 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New Visits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lineChart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lineChart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Line Chart - CPV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lineChart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lineChart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Line Chart - CTR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lineChart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lineChart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Line Chart - Views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Ad. Card - CPV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Pie Chart - VF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Visits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Time 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Views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Minutes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Clicks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Impressions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CTR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CTR 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New Visits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33680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Ad. Card - CPV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Pie Chart - VF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Visits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Time 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Views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Minutes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Clicks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Impressions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CTR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CTR 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New Visits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169406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Winn-Dixie 123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tableEx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Winn-Dixie 86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Winn-Dixie 267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Winn-Dixie 336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tableEx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Winn-Dixie 343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Winn-Dixie 349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tableEx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Winn-Dixie 358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Winn-Dixie 381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tableEx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Winn-Dixie 436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Winn-Dixie 481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tableEx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Winn-Dixie 493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Winn-Dixie 711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tableEx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Winn-Dixie 726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Winn-Dixie 2269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tableEx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Winn-Dixie 2288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Winn-Dixie 2423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tableEx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Winn-Dixie 2437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Winn-Dixie 2448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tableEx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Winn-Dixie 2556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Winn-Dixie 2568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tableEx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lineChart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lineChart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RED STORES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GREEN STORES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AMBER STORES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lineChart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lineChart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Line Chart - Visits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lineChart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lineChart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Line Chart - Visits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lineChart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lineChart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Line Chart - Visits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lineChart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lineChart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Winn-Dixie 86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Winn-Dixie 123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Winn-Dixie 267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Winn-Dixie 336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lineChart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lineChart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Winn-Dixie 343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Winn-Dixie 349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Winn-Dixie 358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Winn-Dixie 381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lineChart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lineChart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Winn-Dixie 436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Winn-Dixie 481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Winn-Dixie 493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Winn-Dixie 711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lineChart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lineChart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Winn-Dixie 726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Winn-Dixie 2269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Winn-Dixie 2288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Winn-Dixie 2423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lineChart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lineChart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Ad. Card - Demo Period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Winn-Dixie 2437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Winn-Dixie 2448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Winn-Dixie 2556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Winn-Dixie 2568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160b2f8b-1f5e-40a4-b917-f5925877b700/?pbi_source=PowerPoint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160b2f8b-1f5e-40a4-b917-f5925877b700/?pbi_source=PowerPoint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160b2f8b-1f5e-40a4-b917-f5925877b700/?pbi_source=PowerPoint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160b2f8b-1f5e-40a4-b917-f5925877b700/?pbi_source=PowerPoint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160b2f8b-1f5e-40a4-b917-f5925877b700/?pbi_source=PowerPoint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y rectangular object with a red border&#10;&#10;AI-generated content may be incorrect.">
            <a:extLst>
              <a:ext uri="{FF2B5EF4-FFF2-40B4-BE49-F238E27FC236}">
                <a16:creationId xmlns:a16="http://schemas.microsoft.com/office/drawing/2014/main" id="{2260AFD9-562F-3B56-AFB1-E1982D3C7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22277A3C-CC00-7BCB-F046-2CB6224C5335}"/>
              </a:ext>
            </a:extLst>
          </p:cNvPr>
          <p:cNvSpPr/>
          <p:nvPr/>
        </p:nvSpPr>
        <p:spPr>
          <a:xfrm>
            <a:off x="0" y="978633"/>
            <a:ext cx="12186301" cy="51825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404040"/>
              </a:solidFill>
              <a:latin typeface="Arial Narrow" panose="020B0606020202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79AC86-A13C-033A-6B11-D7B8CFEC2E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115" y="1143204"/>
            <a:ext cx="6118659" cy="372057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Campaign Summary</a:t>
            </a:r>
            <a:endParaRPr lang="en-US" sz="3200" dirty="0">
              <a:solidFill>
                <a:schemeClr val="tx1">
                  <a:lumMod val="76000"/>
                  <a:lumOff val="24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66A3F7-76D2-39B4-68DA-69EE58E84BEC}"/>
              </a:ext>
            </a:extLst>
          </p:cNvPr>
          <p:cNvSpPr txBox="1"/>
          <p:nvPr/>
        </p:nvSpPr>
        <p:spPr>
          <a:xfrm>
            <a:off x="0" y="0"/>
            <a:ext cx="790330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Nova Cond"/>
              </a:rPr>
              <a:t>Southeastern Grocers – Winn Dixie &amp; Harvey’s Black Friday Campaign</a:t>
            </a:r>
          </a:p>
        </p:txBody>
      </p:sp>
      <p:pic>
        <p:nvPicPr>
          <p:cNvPr id="8" name="Picture 7" descr="A red sign with white text&#10;&#10;AI-generated content may be incorrect.">
            <a:extLst>
              <a:ext uri="{FF2B5EF4-FFF2-40B4-BE49-F238E27FC236}">
                <a16:creationId xmlns:a16="http://schemas.microsoft.com/office/drawing/2014/main" id="{7133163A-EA76-29B6-6C9A-10BAF9B05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2286" y="6161210"/>
            <a:ext cx="1057275" cy="514350"/>
          </a:xfrm>
          <a:prstGeom prst="rect">
            <a:avLst/>
          </a:prstGeom>
        </p:spPr>
      </p:pic>
      <p:sp>
        <p:nvSpPr>
          <p:cNvPr id="29" name="Title 1">
            <a:extLst>
              <a:ext uri="{FF2B5EF4-FFF2-40B4-BE49-F238E27FC236}">
                <a16:creationId xmlns:a16="http://schemas.microsoft.com/office/drawing/2014/main" id="{45260C47-797D-4015-A803-4D5AAE63E33D}"/>
              </a:ext>
            </a:extLst>
          </p:cNvPr>
          <p:cNvSpPr txBox="1">
            <a:spLocks/>
          </p:cNvSpPr>
          <p:nvPr/>
        </p:nvSpPr>
        <p:spPr>
          <a:xfrm>
            <a:off x="207115" y="1824208"/>
            <a:ext cx="5623310" cy="41288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400" u="sng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Number of weeks: 5 weeks</a:t>
            </a:r>
          </a:p>
          <a:p>
            <a:pPr algn="just"/>
            <a: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From 11/28/2025 to 12/31/2025</a:t>
            </a:r>
          </a:p>
          <a:p>
            <a:pPr algn="just"/>
            <a:endParaRPr lang="en-US" sz="1600" dirty="0">
              <a:solidFill>
                <a:schemeClr val="tx1">
                  <a:lumMod val="76000"/>
                  <a:lumOff val="24000"/>
                </a:schemeClr>
              </a:solidFill>
              <a:latin typeface="Arial Narrow" panose="020B0606020202030204" pitchFamily="34" charset="0"/>
            </a:endParaRPr>
          </a:p>
          <a:p>
            <a:pPr algn="just"/>
            <a:r>
              <a:rPr lang="en-US" sz="2400" u="sng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Participating stores: 136 stores</a:t>
            </a:r>
          </a:p>
          <a:p>
            <a:pPr algn="just"/>
            <a: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Red Stores: 37 Stores</a:t>
            </a:r>
          </a:p>
          <a:p>
            <a:pPr algn="just"/>
            <a: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Amber Stores: 49 Stores</a:t>
            </a:r>
          </a:p>
          <a:p>
            <a:pPr algn="just"/>
            <a: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Green Stores: 37 Stores</a:t>
            </a:r>
          </a:p>
          <a:p>
            <a:pPr algn="just"/>
            <a: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Ungrouped Stores: 8 Stores</a:t>
            </a:r>
          </a:p>
          <a:p>
            <a:pPr algn="just"/>
            <a: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Harvey’s Stores: 9 Stores</a:t>
            </a:r>
          </a:p>
          <a:p>
            <a:pPr algn="just"/>
            <a:endParaRPr lang="en-US" sz="1800" b="1" dirty="0">
              <a:solidFill>
                <a:schemeClr val="tx1">
                  <a:lumMod val="76000"/>
                  <a:lumOff val="24000"/>
                </a:schemeClr>
              </a:solidFill>
              <a:latin typeface="Arial Narrow" panose="020B0606020202030204" pitchFamily="34" charset="0"/>
            </a:endParaRPr>
          </a:p>
          <a:p>
            <a:pPr algn="just"/>
            <a:r>
              <a:rPr lang="en-US" sz="2400" u="sng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Media Spend: $400,000 total budget</a:t>
            </a:r>
          </a:p>
          <a:p>
            <a:pPr algn="just"/>
            <a: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$79,999.99 per week</a:t>
            </a:r>
          </a:p>
          <a:p>
            <a:pPr algn="just"/>
            <a:endParaRPr lang="en-US" sz="1600" dirty="0">
              <a:solidFill>
                <a:schemeClr val="tx1">
                  <a:lumMod val="76000"/>
                  <a:lumOff val="24000"/>
                </a:schemeClr>
              </a:solidFill>
              <a:latin typeface="Arial Narrow" panose="020B0606020202030204" pitchFamily="34" charset="0"/>
            </a:endParaRPr>
          </a:p>
          <a:p>
            <a:pPr algn="just"/>
            <a:endParaRPr lang="en-US" sz="1600" dirty="0">
              <a:solidFill>
                <a:schemeClr val="tx1">
                  <a:lumMod val="76000"/>
                  <a:lumOff val="24000"/>
                </a:schemeClr>
              </a:solidFill>
              <a:latin typeface="Arial Narrow" panose="020B0606020202030204" pitchFamily="34" charset="0"/>
            </a:endParaRPr>
          </a:p>
          <a:p>
            <a:pPr algn="just"/>
            <a:endParaRPr lang="en-US" sz="1600" dirty="0">
              <a:solidFill>
                <a:schemeClr val="tx1">
                  <a:lumMod val="76000"/>
                  <a:lumOff val="24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53447118-99CC-4170-80B1-8F1174922267}"/>
              </a:ext>
            </a:extLst>
          </p:cNvPr>
          <p:cNvSpPr txBox="1">
            <a:spLocks/>
          </p:cNvSpPr>
          <p:nvPr/>
        </p:nvSpPr>
        <p:spPr>
          <a:xfrm>
            <a:off x="6196708" y="1621625"/>
            <a:ext cx="5623310" cy="46308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400" u="sng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Budget Allocation</a:t>
            </a:r>
          </a:p>
          <a:p>
            <a:pPr algn="just"/>
            <a: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50%, Proportional Based on Store Sales</a:t>
            </a:r>
          </a:p>
          <a:p>
            <a:pPr algn="just"/>
            <a: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50%, Proportional Based on Known Transactions</a:t>
            </a:r>
          </a:p>
          <a:p>
            <a:pPr algn="just"/>
            <a: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Green, Amber, Red impact</a:t>
            </a:r>
          </a:p>
          <a:p>
            <a:pPr algn="just"/>
            <a: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    </a:t>
            </a:r>
            <a:r>
              <a:rPr lang="en-US" sz="1800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Green = -10%</a:t>
            </a:r>
          </a:p>
          <a:p>
            <a:pPr algn="just"/>
            <a:r>
              <a:rPr lang="en-US" sz="1800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    Amber = Neutral</a:t>
            </a:r>
          </a:p>
          <a:p>
            <a:pPr algn="just"/>
            <a:r>
              <a:rPr lang="en-US" sz="1800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    Red = +10%</a:t>
            </a:r>
          </a:p>
          <a:p>
            <a:pPr algn="just"/>
            <a:endParaRPr lang="en-US" sz="1600" dirty="0">
              <a:solidFill>
                <a:schemeClr val="tx1">
                  <a:lumMod val="76000"/>
                  <a:lumOff val="24000"/>
                </a:schemeClr>
              </a:solidFill>
              <a:latin typeface="Arial Narrow" panose="020B0606020202030204" pitchFamily="34" charset="0"/>
            </a:endParaRPr>
          </a:p>
          <a:p>
            <a:pPr algn="just"/>
            <a:r>
              <a:rPr lang="en-US" sz="2400" u="sng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Current Customer vs Conquest Customer budget ratio</a:t>
            </a:r>
          </a:p>
          <a:p>
            <a:pPr algn="just"/>
            <a: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Green = 50% Current Customers, 50% Conquest Customers</a:t>
            </a:r>
          </a:p>
          <a:p>
            <a:pPr algn="just"/>
            <a: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Amber = 60% Current Customers, 40% Conquest Customers</a:t>
            </a:r>
          </a:p>
          <a:p>
            <a:pPr algn="just"/>
            <a: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Red = 70% Current Customers, 30% Conquest Customers</a:t>
            </a:r>
          </a:p>
          <a:p>
            <a:pPr algn="just"/>
            <a:endParaRPr lang="en-US" sz="1600" dirty="0">
              <a:solidFill>
                <a:schemeClr val="tx1">
                  <a:lumMod val="76000"/>
                  <a:lumOff val="24000"/>
                </a:schemeClr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99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shape ,Analytics Title ,Ad. Card Quarterly  ,Ad. Card Quarterly  ,Image - Ideal ,slicer ,shape ,slicer ,slicer ,Image - Ideal ,Ad. Card Digital Circular ,image ,image ,Ad. Card Quarterly . Please refer to the notes on this slide for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Ad. Card - CPV ,Pie Chart - VF ,Ad. Card - Visits ,Ad. Card - Time X ,Ad. Card - Views ,Ad. Card - Minutes ,Ad. Card - Clicks ,Ad. Card - Impressions ,Ad. Card - CTR ,Ad. Card - CTR X ,cardVisual ,cardVisual ,image ,slicer ,slicer ,slicer ,image ,Ad. Card - New Visits. Please refer to the notes on this slide for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shape ,lineChart ,lineChart ,Ad. Card - Demo Period ,Line Chart - CPV ,slicer ,slicer. Please refer to the notes on this slide for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CPV's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lineChart ,lineChart ,Ad. Card - Demo Period ,Line Chart - Visits ,slicer ,slicer. Please refer to the notes on this slide for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lineChart ,lineChart ,Ad. Card - Demo Period ,Line Chart - CTR ,slicer ,slicer. Please refer to the notes on this slide for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CTR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lineChart ,lineChart ,Ad. Card - Demo Period ,Line Chart - Views ,slicer ,slicer. Please refer to the notes on this slide for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Competitors 01</a:t>
            </a:r>
          </a:p>
        </p:txBody>
      </p:sp>
      <p:pic>
        <p:nvPicPr>
          <p:cNvPr id="2" name="Picture 2" descr="This slide contains the following visuals: Ad. Card - Demo Period ,slicer ,shape ,slicer ,slicer ,Matrix - Store Breakdown. Please refer to the notes on this slide for details">
            <a:extLst>
              <a:ext uri="{FF2B5EF4-FFF2-40B4-BE49-F238E27FC236}">
                <a16:creationId xmlns:a16="http://schemas.microsoft.com/office/drawing/2014/main" id="{7BB9679C-0853-4749-A603-42F43E44A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0"/>
            <a:ext cx="120205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Competitors 02</a:t>
            </a:r>
          </a:p>
        </p:txBody>
      </p:sp>
      <p:pic>
        <p:nvPicPr>
          <p:cNvPr id="2" name="Picture 2" descr="This slide contains the following visuals: Ad. Card - Demo Period ,slicer ,image ,slicer ,slicer ,pivotTable. Please refer to the notes on this slide for details">
            <a:extLst>
              <a:ext uri="{FF2B5EF4-FFF2-40B4-BE49-F238E27FC236}">
                <a16:creationId xmlns:a16="http://schemas.microsoft.com/office/drawing/2014/main" id="{5CD54CC9-1B94-4FFE-A8DB-CEED7AE78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0"/>
            <a:ext cx="120205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Pie Chart - Gender ,Column Chart - Age ,Pie Chart - Language ,Ad. Card - Demo Period ,slicer. Please refer to the notes on this slide for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Ad. Card - Demo Period ,Line Chart - Time Bins ,Line Chart - Week ,Column Chart - Device ,slicer. Please refer to the notes on this slide for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cardVisual ,Ad. Card - Demo Period ,Ad. Card - Demo Period ,cardVisual ,Pie Chart - Gender ,Pie Chart - Language ,Pie Chart - Language ,Column Chart - Device ,Column Chart - Age. Please refer to the notes on this slide for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DSEG1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Column Chart - Age ,Column Chart - Age ,cardVisual ,Ad. Card - Demo Period ,Ad. Card - Demo Period ,cardVisual ,Column Chart - Age ,Column Chart - Age. Please refer to the notes on this slide for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DSEG2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y rectangular object with a red border&#10;&#10;AI-generated content may be incorrect.">
            <a:extLst>
              <a:ext uri="{FF2B5EF4-FFF2-40B4-BE49-F238E27FC236}">
                <a16:creationId xmlns:a16="http://schemas.microsoft.com/office/drawing/2014/main" id="{2260AFD9-562F-3B56-AFB1-E1982D3C7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22277A3C-CC00-7BCB-F046-2CB6224C5335}"/>
              </a:ext>
            </a:extLst>
          </p:cNvPr>
          <p:cNvSpPr/>
          <p:nvPr/>
        </p:nvSpPr>
        <p:spPr>
          <a:xfrm>
            <a:off x="0" y="978633"/>
            <a:ext cx="12186301" cy="51825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404040"/>
              </a:solidFill>
              <a:latin typeface="Arial Narrow" panose="020B0606020202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79AC86-A13C-033A-6B11-D7B8CFEC2E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918" y="1143203"/>
            <a:ext cx="6118659" cy="372057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Campaign Summary</a:t>
            </a:r>
            <a:endParaRPr lang="en-US" sz="3200" dirty="0">
              <a:solidFill>
                <a:schemeClr val="tx1">
                  <a:lumMod val="76000"/>
                  <a:lumOff val="24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66A3F7-76D2-39B4-68DA-69EE58E84BEC}"/>
              </a:ext>
            </a:extLst>
          </p:cNvPr>
          <p:cNvSpPr txBox="1"/>
          <p:nvPr/>
        </p:nvSpPr>
        <p:spPr>
          <a:xfrm>
            <a:off x="0" y="0"/>
            <a:ext cx="790330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Nova Cond"/>
              </a:rPr>
              <a:t>Southeastern Grocers – Winn Dixie Print to </a:t>
            </a:r>
            <a:r>
              <a:rPr lang="en-US">
                <a:solidFill>
                  <a:schemeClr val="bg1"/>
                </a:solidFill>
                <a:latin typeface="Arial Nova Cond"/>
              </a:rPr>
              <a:t>Digital Campaign</a:t>
            </a:r>
            <a:endParaRPr lang="en-US" dirty="0">
              <a:solidFill>
                <a:schemeClr val="bg1"/>
              </a:solidFill>
              <a:latin typeface="Arial Nova Cond"/>
            </a:endParaRPr>
          </a:p>
        </p:txBody>
      </p:sp>
      <p:pic>
        <p:nvPicPr>
          <p:cNvPr id="8" name="Picture 7" descr="A red sign with white text&#10;&#10;AI-generated content may be incorrect.">
            <a:extLst>
              <a:ext uri="{FF2B5EF4-FFF2-40B4-BE49-F238E27FC236}">
                <a16:creationId xmlns:a16="http://schemas.microsoft.com/office/drawing/2014/main" id="{7133163A-EA76-29B6-6C9A-10BAF9B05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2286" y="6161210"/>
            <a:ext cx="1057275" cy="514350"/>
          </a:xfrm>
          <a:prstGeom prst="rect">
            <a:avLst/>
          </a:prstGeom>
        </p:spPr>
      </p:pic>
      <p:sp>
        <p:nvSpPr>
          <p:cNvPr id="29" name="Title 1">
            <a:extLst>
              <a:ext uri="{FF2B5EF4-FFF2-40B4-BE49-F238E27FC236}">
                <a16:creationId xmlns:a16="http://schemas.microsoft.com/office/drawing/2014/main" id="{45260C47-797D-4015-A803-4D5AAE63E33D}"/>
              </a:ext>
            </a:extLst>
          </p:cNvPr>
          <p:cNvSpPr txBox="1">
            <a:spLocks/>
          </p:cNvSpPr>
          <p:nvPr/>
        </p:nvSpPr>
        <p:spPr>
          <a:xfrm>
            <a:off x="242918" y="1515261"/>
            <a:ext cx="5623310" cy="41288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400" u="sng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Number of weeks: ???</a:t>
            </a:r>
          </a:p>
          <a:p>
            <a:pPr algn="just"/>
            <a: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From 12/31/2025  to ???</a:t>
            </a:r>
          </a:p>
          <a:p>
            <a:pPr algn="just"/>
            <a:endParaRPr lang="en-US" sz="1600" dirty="0">
              <a:solidFill>
                <a:schemeClr val="tx1">
                  <a:lumMod val="76000"/>
                  <a:lumOff val="24000"/>
                </a:schemeClr>
              </a:solidFill>
              <a:latin typeface="Arial Narrow" panose="020B0606020202030204" pitchFamily="34" charset="0"/>
            </a:endParaRPr>
          </a:p>
          <a:p>
            <a:pPr algn="just"/>
            <a:r>
              <a:rPr lang="en-US" sz="2400" u="sng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Participating stores: 20 stores</a:t>
            </a:r>
          </a:p>
          <a:p>
            <a:pPr algn="just"/>
            <a: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Red Stores: 5 Stores</a:t>
            </a:r>
          </a:p>
          <a:p>
            <a:pPr algn="just"/>
            <a: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Amber Stores: 12 Stores</a:t>
            </a:r>
          </a:p>
          <a:p>
            <a:pPr algn="just"/>
            <a: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Green Stores: 3 Stores</a:t>
            </a:r>
          </a:p>
          <a:p>
            <a:pPr algn="just"/>
            <a:endParaRPr lang="en-US" sz="1800" b="1" dirty="0">
              <a:solidFill>
                <a:schemeClr val="tx1">
                  <a:lumMod val="76000"/>
                  <a:lumOff val="24000"/>
                </a:schemeClr>
              </a:solidFill>
              <a:latin typeface="Arial Narrow" panose="020B0606020202030204" pitchFamily="34" charset="0"/>
            </a:endParaRPr>
          </a:p>
          <a:p>
            <a:pPr algn="just"/>
            <a:r>
              <a:rPr lang="en-US" sz="2400" u="sng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Media Spend: $$$$$ total budget</a:t>
            </a:r>
          </a:p>
          <a:p>
            <a:pPr algn="just"/>
            <a: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$18,349.46 per week</a:t>
            </a:r>
          </a:p>
          <a:p>
            <a:pPr algn="just"/>
            <a:endParaRPr lang="en-US" sz="2000" dirty="0">
              <a:solidFill>
                <a:schemeClr val="tx1">
                  <a:lumMod val="76000"/>
                  <a:lumOff val="24000"/>
                </a:schemeClr>
              </a:solidFill>
              <a:latin typeface="Arial Narrow" panose="020B0606020202030204" pitchFamily="34" charset="0"/>
            </a:endParaRPr>
          </a:p>
          <a:p>
            <a:pPr algn="just"/>
            <a:endParaRPr lang="en-US" sz="2000" dirty="0">
              <a:solidFill>
                <a:schemeClr val="tx1">
                  <a:lumMod val="76000"/>
                  <a:lumOff val="24000"/>
                </a:schemeClr>
              </a:solidFill>
              <a:latin typeface="Arial Narrow" panose="020B0606020202030204" pitchFamily="34" charset="0"/>
            </a:endParaRPr>
          </a:p>
          <a:p>
            <a:pPr algn="just"/>
            <a:endParaRPr lang="en-US" sz="2000" dirty="0">
              <a:solidFill>
                <a:schemeClr val="tx1">
                  <a:lumMod val="76000"/>
                  <a:lumOff val="24000"/>
                </a:schemeClr>
              </a:solidFill>
              <a:latin typeface="Arial Narrow" panose="020B0606020202030204" pitchFamily="34" charset="0"/>
            </a:endParaRPr>
          </a:p>
          <a:p>
            <a:pPr algn="just"/>
            <a:endParaRPr lang="en-US" sz="1600" dirty="0">
              <a:solidFill>
                <a:schemeClr val="tx1">
                  <a:lumMod val="76000"/>
                  <a:lumOff val="24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53447118-99CC-4170-80B1-8F1174922267}"/>
              </a:ext>
            </a:extLst>
          </p:cNvPr>
          <p:cNvSpPr txBox="1">
            <a:spLocks/>
          </p:cNvSpPr>
          <p:nvPr/>
        </p:nvSpPr>
        <p:spPr>
          <a:xfrm>
            <a:off x="6214609" y="1347965"/>
            <a:ext cx="5623310" cy="46308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400" u="sng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Budget Allocation</a:t>
            </a:r>
          </a:p>
          <a:p>
            <a:pPr algn="just"/>
            <a: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50%, Proportional Based on Store Sales</a:t>
            </a:r>
          </a:p>
          <a:p>
            <a:pPr algn="just"/>
            <a: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50%, Proportional Based on Known Transactions</a:t>
            </a:r>
          </a:p>
          <a:p>
            <a:pPr algn="just"/>
            <a: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Green, Amber, Red impact</a:t>
            </a:r>
          </a:p>
          <a:p>
            <a:pPr algn="just"/>
            <a: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    </a:t>
            </a:r>
            <a:r>
              <a:rPr lang="en-US" sz="1800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Green = -10%</a:t>
            </a:r>
          </a:p>
          <a:p>
            <a:pPr algn="just"/>
            <a:r>
              <a:rPr lang="en-US" sz="1800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    Amber = Neutral</a:t>
            </a:r>
          </a:p>
          <a:p>
            <a:pPr algn="just"/>
            <a:r>
              <a:rPr lang="en-US" sz="1800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    Red = +10%</a:t>
            </a:r>
          </a:p>
          <a:p>
            <a:pPr algn="just"/>
            <a:endParaRPr lang="en-US" sz="1600" dirty="0">
              <a:solidFill>
                <a:schemeClr val="tx1">
                  <a:lumMod val="76000"/>
                  <a:lumOff val="24000"/>
                </a:schemeClr>
              </a:solidFill>
              <a:latin typeface="Arial Narrow" panose="020B0606020202030204" pitchFamily="34" charset="0"/>
            </a:endParaRPr>
          </a:p>
          <a:p>
            <a:pPr algn="just"/>
            <a:r>
              <a:rPr lang="en-US" sz="2400" u="sng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Current Customer vs Conquest Customer budget ratio</a:t>
            </a:r>
          </a:p>
          <a:p>
            <a:pPr algn="just"/>
            <a: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Green = 50% Current Customers, 50% Conquest Customers</a:t>
            </a:r>
          </a:p>
          <a:p>
            <a:pPr algn="just"/>
            <a: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Amber = 60% Current Customers, 40% Conquest Customers</a:t>
            </a:r>
          </a:p>
          <a:p>
            <a:pPr algn="just"/>
            <a: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rial Narrow" panose="020B0606020202030204" pitchFamily="34" charset="0"/>
              </a:rPr>
              <a:t>Red = 70% Current Customers, 30% Conquest Customers</a:t>
            </a:r>
          </a:p>
          <a:p>
            <a:pPr algn="just"/>
            <a:endParaRPr lang="en-US" sz="1600" dirty="0">
              <a:solidFill>
                <a:schemeClr val="tx1">
                  <a:lumMod val="76000"/>
                  <a:lumOff val="24000"/>
                </a:schemeClr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950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F755B-F348-3BFD-D97C-7E491AA1E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hidden="1">
            <a:extLst>
              <a:ext uri="{FF2B5EF4-FFF2-40B4-BE49-F238E27FC236}">
                <a16:creationId xmlns:a16="http://schemas.microsoft.com/office/drawing/2014/main" id="{D399FA12-01CE-9AE6-14B9-28D195C63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Cover</a:t>
            </a:r>
          </a:p>
        </p:txBody>
      </p:sp>
      <p:pic>
        <p:nvPicPr>
          <p:cNvPr id="8196" name="Picture 4" descr="This slide contains the following visuals: shape ,Analytics Title ,Ad. Card Quarterly  ,Ad. Card Quarterly  ,Image - Ideal ,slicer ,shape ,slicer ,slicer ,Image - Ideal ,Ad. Card Digital Circular ,image ,Ad. Card Quarterly  ,image. Please refer to the notes on this slide for details">
            <a:extLst>
              <a:ext uri="{FF2B5EF4-FFF2-40B4-BE49-F238E27FC236}">
                <a16:creationId xmlns:a16="http://schemas.microsoft.com/office/drawing/2014/main" id="{B02E5607-8EB3-48BF-B334-826D725A2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0"/>
            <a:ext cx="120205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075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</a:t>
            </a:r>
          </a:p>
        </p:txBody>
      </p:sp>
      <p:pic>
        <p:nvPicPr>
          <p:cNvPr id="11266" name="Picture 2" descr="This slide contains the following visuals: Ad. Card - CPV ,Pie Chart - VF ,Ad. Card - Visits ,Ad. Card - Time X ,Ad. Card - Views ,Ad. Card - Minutes ,Ad. Card - Clicks ,Ad. Card - Impressions ,Ad. Card - CTR ,Ad. Card - CTR X ,cardVisual ,cardVisual ,image ,slicer ,slicer ,slicer ,image ,Ad. Card - New Visits. Please refer to the notes on this slide for details">
            <a:extLst>
              <a:ext uri="{FF2B5EF4-FFF2-40B4-BE49-F238E27FC236}">
                <a16:creationId xmlns:a16="http://schemas.microsoft.com/office/drawing/2014/main" id="{E8E7C0B8-E075-41D6-B5BC-61884AEBB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0"/>
            <a:ext cx="120205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shape ,lineChart ,lineChart ,Ad. Card - Demo Period ,Line Chart - CPV ,slicer ,slicer. Please refer to the notes on this slide for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CPV's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 title="This slide contains the following visuals: lineChart ,lineChart ,Ad. Card - Demo Period ,Line Chart - Visits ,slicer ,slicer. Please refer to the notes on this slide for details">
            <a:extLst>
              <a:ext uri="{FF2B5EF4-FFF2-40B4-BE49-F238E27FC236}">
                <a16:creationId xmlns:a16="http://schemas.microsoft.com/office/drawing/2014/main" id="{69922569-46AF-BA15-61B7-7D118051A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93124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lineChart ,lineChart ,Ad. Card - Demo Period ,Line Chart - CTR ,slicer ,slicer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CTR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lineChart ,lineChart ,Ad. Card - Demo Period ,Line Chart - Views ,slicer ,slicer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Views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</a:t>
            </a:r>
          </a:p>
        </p:txBody>
      </p:sp>
      <p:sp>
        <p:nvSpPr>
          <p:cNvPr id="2" name="AutoShape 4" descr="https://powerpoint.officeapps.live.com/pods/GetClipboardImage.ashx?Id=d8391a15-436a-4d5a-a1c6-23da9d1a7318&amp;DC=PUS5&amp;pkey=aed262bf-e13a-49fe-ac25-a4b293f6f4be&amp;wdwaccluster=PUS5">
            <a:extLst>
              <a:ext uri="{FF2B5EF4-FFF2-40B4-BE49-F238E27FC236}">
                <a16:creationId xmlns:a16="http://schemas.microsoft.com/office/drawing/2014/main" id="{474210AA-0E79-47DB-BFAC-84C24EAA40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NI"/>
          </a:p>
        </p:txBody>
      </p:sp>
      <p:pic>
        <p:nvPicPr>
          <p:cNvPr id="12290" name="Picture 2" descr="This slide contains the following visuals: Ad. Card - Demo Period ,slicer ,shape ,slicer ,slicer ,Matrix - Store Breakdown. Please refer to the notes on this slide for details">
            <a:extLst>
              <a:ext uri="{FF2B5EF4-FFF2-40B4-BE49-F238E27FC236}">
                <a16:creationId xmlns:a16="http://schemas.microsoft.com/office/drawing/2014/main" id="{5D326EDE-A70B-4782-A7CB-C36D82ACB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0"/>
            <a:ext cx="120205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65169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</a:t>
            </a:r>
          </a:p>
        </p:txBody>
      </p:sp>
      <p:sp>
        <p:nvSpPr>
          <p:cNvPr id="2" name="AutoShape 4" descr="https://powerpoint.officeapps.live.com/pods/GetClipboardImage.ashx?Id=d8391a15-436a-4d5a-a1c6-23da9d1a7318&amp;DC=PUS5&amp;pkey=aed262bf-e13a-49fe-ac25-a4b293f6f4be&amp;wdwaccluster=PUS5">
            <a:extLst>
              <a:ext uri="{FF2B5EF4-FFF2-40B4-BE49-F238E27FC236}">
                <a16:creationId xmlns:a16="http://schemas.microsoft.com/office/drawing/2014/main" id="{474210AA-0E79-47DB-BFAC-84C24EAA40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NI"/>
          </a:p>
        </p:txBody>
      </p:sp>
      <p:pic>
        <p:nvPicPr>
          <p:cNvPr id="13314" name="Picture 2" descr="This slide contains the following visuals: Ad. Card - Demo Period ,slicer ,image ,slicer ,slicer ,pivotTable. Please refer to the notes on this slide for details">
            <a:extLst>
              <a:ext uri="{FF2B5EF4-FFF2-40B4-BE49-F238E27FC236}">
                <a16:creationId xmlns:a16="http://schemas.microsoft.com/office/drawing/2014/main" id="{6026D899-AE98-4353-A7B6-0370BC36B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0"/>
            <a:ext cx="120205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4774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Winn-Dixie 123 ,Ad. Card - Demo Period ,slicer ,slicer ,tableEx ,slicer ,Winn-Dixie 86. Please refer to the notes on this slide for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CD - 1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Winn-Dixie 267 ,Winn-Dixie 336 ,Ad. Card - Demo Period ,slicer ,slicer ,tableEx ,slicer. Please refer to the notes on this slide for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CD - 2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Winn-Dixie 343 ,Winn-Dixie 349 ,Ad. Card - Demo Period ,slicer ,slicer ,tableEx ,slicer. Please refer to the notes on this slide for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CD - 3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Winn-Dixie 358 ,Winn-Dixie 381 ,Ad. Card - Demo Period ,slicer ,slicer ,tableEx ,slicer. Please refer to the notes on this slide for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CD - 4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Winn-Dixie 436 ,Winn-Dixie 481 ,Ad. Card - Demo Period ,slicer ,slicer ,tableEx ,slicer. Please refer to the notes on this slide for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CD - 5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Winn-Dixie 493 ,Winn-Dixie 711 ,Ad. Card - Demo Period ,slicer ,slicer ,tableEx ,slicer. Please refer to the notes on this slide for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CD - 6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Winn-Dixie 726 ,Winn-Dixie 2269 ,Ad. Card - Demo Period ,slicer ,slicer ,tableEx ,slicer. Please refer to the notes on this slide for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CD - 7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Winn-Dixie 2288 ,Winn-Dixie 2423 ,Ad. Card - Demo Period ,slicer ,slicer ,tableEx ,slicer. Please refer to the notes on this slide for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CD - 8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Winn-Dixie 2437 ,Winn-Dixie 2448 ,Ad. Card - Demo Period ,slicer ,slicer ,tableEx ,slicer. Please refer to the notes on this slide for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CD - 9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Winn-Dixie 2556 ,Winn-Dixie 2568 ,Ad. Card - Demo Period ,slicer ,slicer ,tableEx ,slicer. Please refer to the notes on this slide for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CD - 10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y rectangular object with a red border&#10;&#10;AI-generated content may be incorrect.">
            <a:extLst>
              <a:ext uri="{FF2B5EF4-FFF2-40B4-BE49-F238E27FC236}">
                <a16:creationId xmlns:a16="http://schemas.microsoft.com/office/drawing/2014/main" id="{2260AFD9-562F-3B56-AFB1-E1982D3C7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22277A3C-CC00-7BCB-F046-2CB6224C5335}"/>
              </a:ext>
            </a:extLst>
          </p:cNvPr>
          <p:cNvSpPr/>
          <p:nvPr/>
        </p:nvSpPr>
        <p:spPr>
          <a:xfrm>
            <a:off x="4884" y="895512"/>
            <a:ext cx="12186301" cy="51825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79AC86-A13C-033A-6B11-D7B8CFEC2E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918" y="1143203"/>
            <a:ext cx="6118659" cy="372057"/>
          </a:xfrm>
        </p:spPr>
        <p:txBody>
          <a:bodyPr>
            <a:noAutofit/>
          </a:bodyPr>
          <a:lstStyle/>
          <a:p>
            <a:pPr algn="l"/>
            <a:r>
              <a:rPr lang="en-US" sz="3200" b="1">
                <a:solidFill>
                  <a:schemeClr val="tx1">
                    <a:lumMod val="76000"/>
                    <a:lumOff val="24000"/>
                  </a:schemeClr>
                </a:solidFill>
                <a:latin typeface="Arial Nova Cond"/>
              </a:rPr>
              <a:t>Executive Summary</a:t>
            </a:r>
            <a:endParaRPr lang="en-US" sz="3200">
              <a:solidFill>
                <a:schemeClr val="tx1">
                  <a:lumMod val="76000"/>
                  <a:lumOff val="24000"/>
                </a:schemeClr>
              </a:solidFill>
              <a:latin typeface="Arial Nova Con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AD9C25-CD02-EE17-974F-026624A19573}"/>
              </a:ext>
            </a:extLst>
          </p:cNvPr>
          <p:cNvSpPr txBox="1"/>
          <p:nvPr/>
        </p:nvSpPr>
        <p:spPr>
          <a:xfrm>
            <a:off x="242918" y="1752832"/>
            <a:ext cx="8379726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>
                <a:solidFill>
                  <a:schemeClr val="tx1">
                    <a:lumMod val="76000"/>
                    <a:lumOff val="24000"/>
                  </a:schemeClr>
                </a:solidFill>
                <a:latin typeface="Arial Nova Cond"/>
              </a:rPr>
              <a:t>What changed across the 20 consistent Winn-Dixie stores in the competitive set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66A3F7-76D2-39B4-68DA-69EE58E84BEC}"/>
              </a:ext>
            </a:extLst>
          </p:cNvPr>
          <p:cNvSpPr txBox="1"/>
          <p:nvPr/>
        </p:nvSpPr>
        <p:spPr>
          <a:xfrm>
            <a:off x="0" y="0"/>
            <a:ext cx="790330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Arial Nova Cond"/>
              </a:rPr>
              <a:t>Southeastern Grocers – Winn-Dixie Print to Digital Campaign</a:t>
            </a:r>
          </a:p>
        </p:txBody>
      </p:sp>
      <p:pic>
        <p:nvPicPr>
          <p:cNvPr id="8" name="Picture 7" descr="A red sign with white text&#10;&#10;AI-generated content may be incorrect.">
            <a:extLst>
              <a:ext uri="{FF2B5EF4-FFF2-40B4-BE49-F238E27FC236}">
                <a16:creationId xmlns:a16="http://schemas.microsoft.com/office/drawing/2014/main" id="{7133163A-EA76-29B6-6C9A-10BAF9B05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2286" y="6161210"/>
            <a:ext cx="1057275" cy="51435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60F5050-3A49-D320-5952-417022F6748D}"/>
              </a:ext>
            </a:extLst>
          </p:cNvPr>
          <p:cNvSpPr txBox="1"/>
          <p:nvPr/>
        </p:nvSpPr>
        <p:spPr>
          <a:xfrm>
            <a:off x="239345" y="3801045"/>
            <a:ext cx="1134012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>
                <a:solidFill>
                  <a:schemeClr val="tx1">
                    <a:lumMod val="76000"/>
                    <a:lumOff val="24000"/>
                  </a:schemeClr>
                </a:solidFill>
                <a:latin typeface="Arial Nova Cond"/>
                <a:ea typeface="+mn-lt"/>
                <a:cs typeface="+mn-lt"/>
              </a:rPr>
              <a:t> Frequency charts (0, 1–3, 4+ visit buckets) show how the loyalty mix shifts week-to-week independent of total volume. </a:t>
            </a:r>
            <a:endParaRPr lang="en-US">
              <a:solidFill>
                <a:schemeClr val="tx1">
                  <a:lumMod val="76000"/>
                  <a:lumOff val="24000"/>
                </a:schemeClr>
              </a:solidFill>
            </a:endParaRPr>
          </a:p>
          <a:p>
            <a:pPr marL="285750" indent="-285750">
              <a:buFont typeface="Wingdings"/>
              <a:buChar char="Ø"/>
            </a:pPr>
            <a:endParaRPr lang="en-US">
              <a:solidFill>
                <a:schemeClr val="tx1">
                  <a:lumMod val="76000"/>
                  <a:lumOff val="24000"/>
                </a:schemeClr>
              </a:solidFill>
              <a:latin typeface="Arial Nova Cond"/>
              <a:ea typeface="+mn-lt"/>
              <a:cs typeface="+mn-lt"/>
            </a:endParaRPr>
          </a:p>
          <a:p>
            <a:pPr marL="285750" indent="-285750">
              <a:buFont typeface="Wingdings"/>
              <a:buChar char="Ø"/>
            </a:pPr>
            <a:r>
              <a:rPr lang="en-US">
                <a:solidFill>
                  <a:schemeClr val="tx1">
                    <a:lumMod val="76000"/>
                    <a:lumOff val="24000"/>
                  </a:schemeClr>
                </a:solidFill>
                <a:latin typeface="Arial Nova Cond"/>
                <a:ea typeface="+mn-lt"/>
                <a:cs typeface="+mn-lt"/>
              </a:rPr>
              <a:t>Competitive benchmarking compares Winn-Dixie to nearby competitor visits within each WD group (market context). </a:t>
            </a:r>
          </a:p>
          <a:p>
            <a:pPr marL="285750" indent="-285750">
              <a:buFont typeface="Wingdings"/>
              <a:buChar char="Ø"/>
            </a:pPr>
            <a:endParaRPr lang="en-US">
              <a:solidFill>
                <a:schemeClr val="tx1">
                  <a:lumMod val="76000"/>
                  <a:lumOff val="24000"/>
                </a:schemeClr>
              </a:solidFill>
              <a:latin typeface="Arial Nova Cond"/>
              <a:ea typeface="+mn-lt"/>
              <a:cs typeface="+mn-lt"/>
            </a:endParaRPr>
          </a:p>
          <a:p>
            <a:pPr marL="285750" indent="-285750">
              <a:buFont typeface="Wingdings"/>
              <a:buChar char="Ø"/>
            </a:pPr>
            <a:r>
              <a:rPr lang="en-US">
                <a:solidFill>
                  <a:schemeClr val="tx1">
                    <a:lumMod val="76000"/>
                    <a:lumOff val="24000"/>
                  </a:schemeClr>
                </a:solidFill>
                <a:latin typeface="Arial Nova Cond"/>
                <a:ea typeface="+mn-lt"/>
                <a:cs typeface="+mn-lt"/>
              </a:rPr>
              <a:t>Pre vs. post media-exposure visit lift (flight vs. lookback) is still being processed and is not included in this cut.</a:t>
            </a:r>
            <a:endParaRPr lang="en-US">
              <a:solidFill>
                <a:schemeClr val="tx1">
                  <a:lumMod val="76000"/>
                  <a:lumOff val="24000"/>
                </a:schemeClr>
              </a:solidFill>
              <a:latin typeface="Arial Nova Cond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34EF70E-DCBF-4369-9B14-DA2742F9FC0B}"/>
              </a:ext>
            </a:extLst>
          </p:cNvPr>
          <p:cNvGrpSpPr/>
          <p:nvPr/>
        </p:nvGrpSpPr>
        <p:grpSpPr>
          <a:xfrm>
            <a:off x="619061" y="2630629"/>
            <a:ext cx="10960236" cy="746432"/>
            <a:chOff x="648369" y="969860"/>
            <a:chExt cx="10960236" cy="746432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58F99B6-A5DD-48D4-A457-D896C9854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77804" y="969860"/>
              <a:ext cx="2864928" cy="746432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NI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C0B7068-C26D-4E52-AA51-B7B56C51C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48369" y="969860"/>
              <a:ext cx="746432" cy="746432"/>
            </a:xfrm>
            <a:prstGeom prst="ellipse">
              <a:avLst/>
            </a:prstGeom>
            <a:solidFill>
              <a:srgbClr val="595959"/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NI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8" name="TextBox 11">
              <a:extLst>
                <a:ext uri="{FF2B5EF4-FFF2-40B4-BE49-F238E27FC236}">
                  <a16:creationId xmlns:a16="http://schemas.microsoft.com/office/drawing/2014/main" id="{8892D97D-7719-48D9-8A19-866B694FFC58}"/>
                </a:ext>
              </a:extLst>
            </p:cNvPr>
            <p:cNvSpPr txBox="1"/>
            <p:nvPr/>
          </p:nvSpPr>
          <p:spPr>
            <a:xfrm>
              <a:off x="3074977" y="1100092"/>
              <a:ext cx="610827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s-NI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>
                  <a:solidFill>
                    <a:schemeClr val="bg1"/>
                  </a:solidFill>
                  <a:latin typeface="Arial Narrow" panose="020B0606020202030204" pitchFamily="34" charset="0"/>
                </a:rPr>
                <a:t>20</a:t>
              </a:r>
            </a:p>
          </p:txBody>
        </p:sp>
        <p:sp>
          <p:nvSpPr>
            <p:cNvPr id="59" name="TextBox 12">
              <a:extLst>
                <a:ext uri="{FF2B5EF4-FFF2-40B4-BE49-F238E27FC236}">
                  <a16:creationId xmlns:a16="http://schemas.microsoft.com/office/drawing/2014/main" id="{193E2910-66E4-4728-9BB9-BFF658078229}"/>
                </a:ext>
              </a:extLst>
            </p:cNvPr>
            <p:cNvSpPr txBox="1"/>
            <p:nvPr/>
          </p:nvSpPr>
          <p:spPr>
            <a:xfrm>
              <a:off x="1518368" y="1139182"/>
              <a:ext cx="1454379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s-NI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>
                  <a:solidFill>
                    <a:schemeClr val="bg1"/>
                  </a:solidFill>
                  <a:latin typeface="Arial Narrow" panose="020B0606020202030204" pitchFamily="34" charset="0"/>
                </a:rPr>
                <a:t>Participating stores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5F3A5B9-447A-4A28-9E5F-CDC75F561E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883272" y="969860"/>
              <a:ext cx="2834295" cy="746432"/>
            </a:xfrm>
            <a:prstGeom prst="rect">
              <a:avLst/>
            </a:prstGeom>
            <a:solidFill>
              <a:srgbClr val="E62F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NI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D59E1D56-35F0-4B1E-BD31-895D41002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98204" y="969860"/>
              <a:ext cx="746432" cy="746432"/>
            </a:xfrm>
            <a:prstGeom prst="ellipse">
              <a:avLst/>
            </a:prstGeom>
            <a:solidFill>
              <a:srgbClr val="E62F28"/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NI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2" name="TextBox 16">
              <a:extLst>
                <a:ext uri="{FF2B5EF4-FFF2-40B4-BE49-F238E27FC236}">
                  <a16:creationId xmlns:a16="http://schemas.microsoft.com/office/drawing/2014/main" id="{A38BA85D-A410-4630-AEA3-31E889CF9FEC}"/>
                </a:ext>
              </a:extLst>
            </p:cNvPr>
            <p:cNvSpPr txBox="1"/>
            <p:nvPr/>
          </p:nvSpPr>
          <p:spPr>
            <a:xfrm>
              <a:off x="6658133" y="1100092"/>
              <a:ext cx="843180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s-NI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3200">
                  <a:solidFill>
                    <a:schemeClr val="bg1"/>
                  </a:solidFill>
                  <a:latin typeface="Arial Narrow" panose="020B0606020202030204" pitchFamily="34" charset="0"/>
                </a:rPr>
                <a:t>15/20</a:t>
              </a:r>
            </a:p>
          </p:txBody>
        </p:sp>
        <p:sp>
          <p:nvSpPr>
            <p:cNvPr id="63" name="TextBox 17">
              <a:extLst>
                <a:ext uri="{FF2B5EF4-FFF2-40B4-BE49-F238E27FC236}">
                  <a16:creationId xmlns:a16="http://schemas.microsoft.com/office/drawing/2014/main" id="{0EB5CA15-5D67-4095-9F7C-E0CBA428D747}"/>
                </a:ext>
              </a:extLst>
            </p:cNvPr>
            <p:cNvSpPr txBox="1"/>
            <p:nvPr/>
          </p:nvSpPr>
          <p:spPr>
            <a:xfrm>
              <a:off x="5386848" y="1032974"/>
              <a:ext cx="1171540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s-NI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>
                  <a:solidFill>
                    <a:schemeClr val="bg1"/>
                  </a:solidFill>
                  <a:latin typeface="Arial Narrow" panose="020B0606020202030204" pitchFamily="34" charset="0"/>
                </a:rPr>
                <a:t>Stores outperforming competitors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50115DD-9CB6-4570-80BE-BABED3B2FF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770557" y="969860"/>
              <a:ext cx="2838048" cy="746432"/>
            </a:xfrm>
            <a:prstGeom prst="rect">
              <a:avLst/>
            </a:prstGeom>
            <a:solidFill>
              <a:srgbClr val="7B7B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NI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90ECC4A-0B00-4168-BEF5-59F074AA3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397342" y="969860"/>
              <a:ext cx="746432" cy="746432"/>
            </a:xfrm>
            <a:prstGeom prst="ellipse">
              <a:avLst/>
            </a:prstGeom>
            <a:solidFill>
              <a:srgbClr val="7B7B7C"/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NI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6" name="TextBox 24">
              <a:extLst>
                <a:ext uri="{FF2B5EF4-FFF2-40B4-BE49-F238E27FC236}">
                  <a16:creationId xmlns:a16="http://schemas.microsoft.com/office/drawing/2014/main" id="{829514C7-92DF-4272-AEFD-83626A6D4CDA}"/>
                </a:ext>
              </a:extLst>
            </p:cNvPr>
            <p:cNvSpPr txBox="1"/>
            <p:nvPr/>
          </p:nvSpPr>
          <p:spPr>
            <a:xfrm>
              <a:off x="10933198" y="1091051"/>
              <a:ext cx="498534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s-NI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3200">
                  <a:solidFill>
                    <a:schemeClr val="bg1"/>
                  </a:solidFill>
                  <a:latin typeface="Arial Narrow" panose="020B0606020202030204" pitchFamily="34" charset="0"/>
                </a:rPr>
                <a:t>8%</a:t>
              </a:r>
            </a:p>
          </p:txBody>
        </p:sp>
        <p:sp>
          <p:nvSpPr>
            <p:cNvPr id="67" name="TextBox 25">
              <a:extLst>
                <a:ext uri="{FF2B5EF4-FFF2-40B4-BE49-F238E27FC236}">
                  <a16:creationId xmlns:a16="http://schemas.microsoft.com/office/drawing/2014/main" id="{A98C8C50-334F-4BD6-840B-DDDF70700A52}"/>
                </a:ext>
              </a:extLst>
            </p:cNvPr>
            <p:cNvSpPr txBox="1"/>
            <p:nvPr/>
          </p:nvSpPr>
          <p:spPr>
            <a:xfrm>
              <a:off x="9277693" y="1068108"/>
              <a:ext cx="1171540" cy="37702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s-NI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>
                  <a:solidFill>
                    <a:schemeClr val="bg1"/>
                  </a:solidFill>
                  <a:latin typeface="Arial Narrow" panose="020B0606020202030204" pitchFamily="34" charset="0"/>
                </a:rPr>
                <a:t>WD share change </a:t>
              </a:r>
              <a:r>
                <a:rPr lang="en-US" sz="1050">
                  <a:solidFill>
                    <a:schemeClr val="bg1"/>
                  </a:solidFill>
                  <a:latin typeface="Arial Narrow" panose="020B0606020202030204" pitchFamily="34" charset="0"/>
                </a:rPr>
                <a:t>(</a:t>
              </a:r>
              <a:r>
                <a:rPr lang="en-US" sz="1000">
                  <a:solidFill>
                    <a:schemeClr val="bg1"/>
                  </a:solidFill>
                  <a:latin typeface="Arial Narrow" panose="020B0606020202030204" pitchFamily="34" charset="0"/>
                </a:rPr>
                <a:t>12/10 flight → 1/7 flight)</a:t>
              </a:r>
              <a:endParaRPr lang="en-US" sz="140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68" name="Graphic 27" descr="Store">
              <a:extLst>
                <a:ext uri="{FF2B5EF4-FFF2-40B4-BE49-F238E27FC236}">
                  <a16:creationId xmlns:a16="http://schemas.microsoft.com/office/drawing/2014/main" id="{9339289E-2EF2-456F-955E-A5C6AC6D4B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10943" y="1151627"/>
              <a:ext cx="401513" cy="401513"/>
            </a:xfrm>
            <a:prstGeom prst="rect">
              <a:avLst/>
            </a:prstGeom>
          </p:spPr>
        </p:pic>
        <p:sp>
          <p:nvSpPr>
            <p:cNvPr id="69" name="TextBox 28">
              <a:extLst>
                <a:ext uri="{FF2B5EF4-FFF2-40B4-BE49-F238E27FC236}">
                  <a16:creationId xmlns:a16="http://schemas.microsoft.com/office/drawing/2014/main" id="{F7EC3850-924C-4D15-9B5B-D190AA91EFD7}"/>
                </a:ext>
              </a:extLst>
            </p:cNvPr>
            <p:cNvSpPr txBox="1"/>
            <p:nvPr/>
          </p:nvSpPr>
          <p:spPr>
            <a:xfrm>
              <a:off x="1509291" y="1388311"/>
              <a:ext cx="1454379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s-NI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>
                  <a:solidFill>
                    <a:schemeClr val="bg1"/>
                  </a:solidFill>
                  <a:latin typeface="Arial Narrow" panose="020B0606020202030204" pitchFamily="34" charset="0"/>
                </a:rPr>
                <a:t>Consistent since program start</a:t>
              </a: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38A75885-5E9F-4A2B-9453-FB802B8B778B}"/>
                </a:ext>
              </a:extLst>
            </p:cNvPr>
            <p:cNvGrpSpPr/>
            <p:nvPr/>
          </p:nvGrpSpPr>
          <p:grpSpPr>
            <a:xfrm>
              <a:off x="8581197" y="1139182"/>
              <a:ext cx="335153" cy="335153"/>
              <a:chOff x="8581197" y="1139182"/>
              <a:chExt cx="335153" cy="335153"/>
            </a:xfrm>
          </p:grpSpPr>
          <p:sp>
            <p:nvSpPr>
              <p:cNvPr id="73" name="Freeform 16" descr="This image is an icon of a chart. ">
                <a:extLst>
                  <a:ext uri="{FF2B5EF4-FFF2-40B4-BE49-F238E27FC236}">
                    <a16:creationId xmlns:a16="http://schemas.microsoft.com/office/drawing/2014/main" id="{B8BC695A-48CF-4595-A9E5-E01A3FEFEC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81197" y="1251297"/>
                <a:ext cx="335153" cy="223038"/>
              </a:xfrm>
              <a:custGeom>
                <a:avLst/>
                <a:gdLst>
                  <a:gd name="T0" fmla="*/ 236 w 240"/>
                  <a:gd name="T1" fmla="*/ 152 h 160"/>
                  <a:gd name="T2" fmla="*/ 224 w 240"/>
                  <a:gd name="T3" fmla="*/ 152 h 160"/>
                  <a:gd name="T4" fmla="*/ 224 w 240"/>
                  <a:gd name="T5" fmla="*/ 4 h 160"/>
                  <a:gd name="T6" fmla="*/ 220 w 240"/>
                  <a:gd name="T7" fmla="*/ 0 h 160"/>
                  <a:gd name="T8" fmla="*/ 188 w 240"/>
                  <a:gd name="T9" fmla="*/ 0 h 160"/>
                  <a:gd name="T10" fmla="*/ 184 w 240"/>
                  <a:gd name="T11" fmla="*/ 4 h 160"/>
                  <a:gd name="T12" fmla="*/ 184 w 240"/>
                  <a:gd name="T13" fmla="*/ 152 h 160"/>
                  <a:gd name="T14" fmla="*/ 168 w 240"/>
                  <a:gd name="T15" fmla="*/ 152 h 160"/>
                  <a:gd name="T16" fmla="*/ 168 w 240"/>
                  <a:gd name="T17" fmla="*/ 76 h 160"/>
                  <a:gd name="T18" fmla="*/ 164 w 240"/>
                  <a:gd name="T19" fmla="*/ 72 h 160"/>
                  <a:gd name="T20" fmla="*/ 132 w 240"/>
                  <a:gd name="T21" fmla="*/ 72 h 160"/>
                  <a:gd name="T22" fmla="*/ 128 w 240"/>
                  <a:gd name="T23" fmla="*/ 76 h 160"/>
                  <a:gd name="T24" fmla="*/ 128 w 240"/>
                  <a:gd name="T25" fmla="*/ 152 h 160"/>
                  <a:gd name="T26" fmla="*/ 112 w 240"/>
                  <a:gd name="T27" fmla="*/ 152 h 160"/>
                  <a:gd name="T28" fmla="*/ 112 w 240"/>
                  <a:gd name="T29" fmla="*/ 52 h 160"/>
                  <a:gd name="T30" fmla="*/ 108 w 240"/>
                  <a:gd name="T31" fmla="*/ 48 h 160"/>
                  <a:gd name="T32" fmla="*/ 76 w 240"/>
                  <a:gd name="T33" fmla="*/ 48 h 160"/>
                  <a:gd name="T34" fmla="*/ 72 w 240"/>
                  <a:gd name="T35" fmla="*/ 52 h 160"/>
                  <a:gd name="T36" fmla="*/ 72 w 240"/>
                  <a:gd name="T37" fmla="*/ 152 h 160"/>
                  <a:gd name="T38" fmla="*/ 56 w 240"/>
                  <a:gd name="T39" fmla="*/ 152 h 160"/>
                  <a:gd name="T40" fmla="*/ 56 w 240"/>
                  <a:gd name="T41" fmla="*/ 108 h 160"/>
                  <a:gd name="T42" fmla="*/ 52 w 240"/>
                  <a:gd name="T43" fmla="*/ 104 h 160"/>
                  <a:gd name="T44" fmla="*/ 20 w 240"/>
                  <a:gd name="T45" fmla="*/ 104 h 160"/>
                  <a:gd name="T46" fmla="*/ 16 w 240"/>
                  <a:gd name="T47" fmla="*/ 108 h 160"/>
                  <a:gd name="T48" fmla="*/ 16 w 240"/>
                  <a:gd name="T49" fmla="*/ 152 h 160"/>
                  <a:gd name="T50" fmla="*/ 4 w 240"/>
                  <a:gd name="T51" fmla="*/ 152 h 160"/>
                  <a:gd name="T52" fmla="*/ 0 w 240"/>
                  <a:gd name="T53" fmla="*/ 156 h 160"/>
                  <a:gd name="T54" fmla="*/ 4 w 240"/>
                  <a:gd name="T55" fmla="*/ 160 h 160"/>
                  <a:gd name="T56" fmla="*/ 20 w 240"/>
                  <a:gd name="T57" fmla="*/ 160 h 160"/>
                  <a:gd name="T58" fmla="*/ 52 w 240"/>
                  <a:gd name="T59" fmla="*/ 160 h 160"/>
                  <a:gd name="T60" fmla="*/ 76 w 240"/>
                  <a:gd name="T61" fmla="*/ 160 h 160"/>
                  <a:gd name="T62" fmla="*/ 108 w 240"/>
                  <a:gd name="T63" fmla="*/ 160 h 160"/>
                  <a:gd name="T64" fmla="*/ 132 w 240"/>
                  <a:gd name="T65" fmla="*/ 160 h 160"/>
                  <a:gd name="T66" fmla="*/ 164 w 240"/>
                  <a:gd name="T67" fmla="*/ 160 h 160"/>
                  <a:gd name="T68" fmla="*/ 188 w 240"/>
                  <a:gd name="T69" fmla="*/ 160 h 160"/>
                  <a:gd name="T70" fmla="*/ 220 w 240"/>
                  <a:gd name="T71" fmla="*/ 160 h 160"/>
                  <a:gd name="T72" fmla="*/ 236 w 240"/>
                  <a:gd name="T73" fmla="*/ 160 h 160"/>
                  <a:gd name="T74" fmla="*/ 240 w 240"/>
                  <a:gd name="T75" fmla="*/ 156 h 160"/>
                  <a:gd name="T76" fmla="*/ 236 w 240"/>
                  <a:gd name="T77" fmla="*/ 152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40" h="160">
                    <a:moveTo>
                      <a:pt x="236" y="152"/>
                    </a:moveTo>
                    <a:cubicBezTo>
                      <a:pt x="224" y="152"/>
                      <a:pt x="224" y="152"/>
                      <a:pt x="224" y="152"/>
                    </a:cubicBezTo>
                    <a:cubicBezTo>
                      <a:pt x="224" y="4"/>
                      <a:pt x="224" y="4"/>
                      <a:pt x="224" y="4"/>
                    </a:cubicBezTo>
                    <a:cubicBezTo>
                      <a:pt x="224" y="2"/>
                      <a:pt x="222" y="0"/>
                      <a:pt x="220" y="0"/>
                    </a:cubicBezTo>
                    <a:cubicBezTo>
                      <a:pt x="188" y="0"/>
                      <a:pt x="188" y="0"/>
                      <a:pt x="188" y="0"/>
                    </a:cubicBezTo>
                    <a:cubicBezTo>
                      <a:pt x="186" y="0"/>
                      <a:pt x="184" y="2"/>
                      <a:pt x="184" y="4"/>
                    </a:cubicBezTo>
                    <a:cubicBezTo>
                      <a:pt x="184" y="152"/>
                      <a:pt x="184" y="152"/>
                      <a:pt x="184" y="152"/>
                    </a:cubicBezTo>
                    <a:cubicBezTo>
                      <a:pt x="168" y="152"/>
                      <a:pt x="168" y="152"/>
                      <a:pt x="168" y="152"/>
                    </a:cubicBezTo>
                    <a:cubicBezTo>
                      <a:pt x="168" y="76"/>
                      <a:pt x="168" y="76"/>
                      <a:pt x="168" y="76"/>
                    </a:cubicBezTo>
                    <a:cubicBezTo>
                      <a:pt x="168" y="74"/>
                      <a:pt x="166" y="72"/>
                      <a:pt x="164" y="72"/>
                    </a:cubicBezTo>
                    <a:cubicBezTo>
                      <a:pt x="132" y="72"/>
                      <a:pt x="132" y="72"/>
                      <a:pt x="132" y="72"/>
                    </a:cubicBezTo>
                    <a:cubicBezTo>
                      <a:pt x="130" y="72"/>
                      <a:pt x="128" y="74"/>
                      <a:pt x="128" y="76"/>
                    </a:cubicBezTo>
                    <a:cubicBezTo>
                      <a:pt x="128" y="152"/>
                      <a:pt x="128" y="152"/>
                      <a:pt x="128" y="152"/>
                    </a:cubicBezTo>
                    <a:cubicBezTo>
                      <a:pt x="112" y="152"/>
                      <a:pt x="112" y="152"/>
                      <a:pt x="112" y="152"/>
                    </a:cubicBezTo>
                    <a:cubicBezTo>
                      <a:pt x="112" y="52"/>
                      <a:pt x="112" y="52"/>
                      <a:pt x="112" y="52"/>
                    </a:cubicBezTo>
                    <a:cubicBezTo>
                      <a:pt x="112" y="50"/>
                      <a:pt x="110" y="48"/>
                      <a:pt x="108" y="48"/>
                    </a:cubicBezTo>
                    <a:cubicBezTo>
                      <a:pt x="76" y="48"/>
                      <a:pt x="76" y="48"/>
                      <a:pt x="76" y="48"/>
                    </a:cubicBezTo>
                    <a:cubicBezTo>
                      <a:pt x="74" y="48"/>
                      <a:pt x="72" y="50"/>
                      <a:pt x="72" y="52"/>
                    </a:cubicBezTo>
                    <a:cubicBezTo>
                      <a:pt x="72" y="152"/>
                      <a:pt x="72" y="152"/>
                      <a:pt x="72" y="152"/>
                    </a:cubicBezTo>
                    <a:cubicBezTo>
                      <a:pt x="56" y="152"/>
                      <a:pt x="56" y="152"/>
                      <a:pt x="56" y="152"/>
                    </a:cubicBezTo>
                    <a:cubicBezTo>
                      <a:pt x="56" y="108"/>
                      <a:pt x="56" y="108"/>
                      <a:pt x="56" y="108"/>
                    </a:cubicBezTo>
                    <a:cubicBezTo>
                      <a:pt x="56" y="106"/>
                      <a:pt x="54" y="104"/>
                      <a:pt x="52" y="104"/>
                    </a:cubicBezTo>
                    <a:cubicBezTo>
                      <a:pt x="20" y="104"/>
                      <a:pt x="20" y="104"/>
                      <a:pt x="20" y="104"/>
                    </a:cubicBezTo>
                    <a:cubicBezTo>
                      <a:pt x="18" y="104"/>
                      <a:pt x="16" y="106"/>
                      <a:pt x="16" y="108"/>
                    </a:cubicBezTo>
                    <a:cubicBezTo>
                      <a:pt x="16" y="152"/>
                      <a:pt x="16" y="152"/>
                      <a:pt x="16" y="152"/>
                    </a:cubicBezTo>
                    <a:cubicBezTo>
                      <a:pt x="4" y="152"/>
                      <a:pt x="4" y="152"/>
                      <a:pt x="4" y="152"/>
                    </a:cubicBezTo>
                    <a:cubicBezTo>
                      <a:pt x="2" y="152"/>
                      <a:pt x="0" y="154"/>
                      <a:pt x="0" y="156"/>
                    </a:cubicBezTo>
                    <a:cubicBezTo>
                      <a:pt x="0" y="158"/>
                      <a:pt x="2" y="160"/>
                      <a:pt x="4" y="160"/>
                    </a:cubicBezTo>
                    <a:cubicBezTo>
                      <a:pt x="20" y="160"/>
                      <a:pt x="20" y="160"/>
                      <a:pt x="20" y="160"/>
                    </a:cubicBezTo>
                    <a:cubicBezTo>
                      <a:pt x="52" y="160"/>
                      <a:pt x="52" y="160"/>
                      <a:pt x="52" y="160"/>
                    </a:cubicBezTo>
                    <a:cubicBezTo>
                      <a:pt x="76" y="160"/>
                      <a:pt x="76" y="160"/>
                      <a:pt x="76" y="160"/>
                    </a:cubicBezTo>
                    <a:cubicBezTo>
                      <a:pt x="108" y="160"/>
                      <a:pt x="108" y="160"/>
                      <a:pt x="108" y="160"/>
                    </a:cubicBezTo>
                    <a:cubicBezTo>
                      <a:pt x="132" y="160"/>
                      <a:pt x="132" y="160"/>
                      <a:pt x="132" y="160"/>
                    </a:cubicBezTo>
                    <a:cubicBezTo>
                      <a:pt x="164" y="160"/>
                      <a:pt x="164" y="160"/>
                      <a:pt x="164" y="160"/>
                    </a:cubicBezTo>
                    <a:cubicBezTo>
                      <a:pt x="188" y="160"/>
                      <a:pt x="188" y="160"/>
                      <a:pt x="188" y="160"/>
                    </a:cubicBezTo>
                    <a:cubicBezTo>
                      <a:pt x="220" y="160"/>
                      <a:pt x="220" y="160"/>
                      <a:pt x="220" y="160"/>
                    </a:cubicBezTo>
                    <a:cubicBezTo>
                      <a:pt x="236" y="160"/>
                      <a:pt x="236" y="160"/>
                      <a:pt x="236" y="160"/>
                    </a:cubicBezTo>
                    <a:cubicBezTo>
                      <a:pt x="238" y="160"/>
                      <a:pt x="240" y="158"/>
                      <a:pt x="240" y="156"/>
                    </a:cubicBezTo>
                    <a:cubicBezTo>
                      <a:pt x="240" y="154"/>
                      <a:pt x="238" y="152"/>
                      <a:pt x="236" y="15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s-NI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74" name="Freeform 17">
                <a:extLst>
                  <a:ext uri="{FF2B5EF4-FFF2-40B4-BE49-F238E27FC236}">
                    <a16:creationId xmlns:a16="http://schemas.microsoft.com/office/drawing/2014/main" id="{060E386F-5937-4503-9F54-A4B9FB4389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03859" y="1139182"/>
                <a:ext cx="295793" cy="184871"/>
              </a:xfrm>
              <a:custGeom>
                <a:avLst/>
                <a:gdLst>
                  <a:gd name="T0" fmla="*/ 16 w 212"/>
                  <a:gd name="T1" fmla="*/ 132 h 132"/>
                  <a:gd name="T2" fmla="*/ 32 w 212"/>
                  <a:gd name="T3" fmla="*/ 116 h 132"/>
                  <a:gd name="T4" fmla="*/ 30 w 212"/>
                  <a:gd name="T5" fmla="*/ 109 h 132"/>
                  <a:gd name="T6" fmla="*/ 67 w 212"/>
                  <a:gd name="T7" fmla="*/ 77 h 132"/>
                  <a:gd name="T8" fmla="*/ 76 w 212"/>
                  <a:gd name="T9" fmla="*/ 80 h 132"/>
                  <a:gd name="T10" fmla="*/ 89 w 212"/>
                  <a:gd name="T11" fmla="*/ 73 h 132"/>
                  <a:gd name="T12" fmla="*/ 120 w 212"/>
                  <a:gd name="T13" fmla="*/ 86 h 132"/>
                  <a:gd name="T14" fmla="*/ 120 w 212"/>
                  <a:gd name="T15" fmla="*/ 88 h 132"/>
                  <a:gd name="T16" fmla="*/ 136 w 212"/>
                  <a:gd name="T17" fmla="*/ 104 h 132"/>
                  <a:gd name="T18" fmla="*/ 152 w 212"/>
                  <a:gd name="T19" fmla="*/ 88 h 132"/>
                  <a:gd name="T20" fmla="*/ 149 w 212"/>
                  <a:gd name="T21" fmla="*/ 79 h 132"/>
                  <a:gd name="T22" fmla="*/ 189 w 212"/>
                  <a:gd name="T23" fmla="*/ 30 h 132"/>
                  <a:gd name="T24" fmla="*/ 196 w 212"/>
                  <a:gd name="T25" fmla="*/ 32 h 132"/>
                  <a:gd name="T26" fmla="*/ 212 w 212"/>
                  <a:gd name="T27" fmla="*/ 16 h 132"/>
                  <a:gd name="T28" fmla="*/ 196 w 212"/>
                  <a:gd name="T29" fmla="*/ 0 h 132"/>
                  <a:gd name="T30" fmla="*/ 180 w 212"/>
                  <a:gd name="T31" fmla="*/ 16 h 132"/>
                  <a:gd name="T32" fmla="*/ 183 w 212"/>
                  <a:gd name="T33" fmla="*/ 25 h 132"/>
                  <a:gd name="T34" fmla="*/ 143 w 212"/>
                  <a:gd name="T35" fmla="*/ 74 h 132"/>
                  <a:gd name="T36" fmla="*/ 136 w 212"/>
                  <a:gd name="T37" fmla="*/ 72 h 132"/>
                  <a:gd name="T38" fmla="*/ 123 w 212"/>
                  <a:gd name="T39" fmla="*/ 79 h 132"/>
                  <a:gd name="T40" fmla="*/ 92 w 212"/>
                  <a:gd name="T41" fmla="*/ 66 h 132"/>
                  <a:gd name="T42" fmla="*/ 92 w 212"/>
                  <a:gd name="T43" fmla="*/ 64 h 132"/>
                  <a:gd name="T44" fmla="*/ 76 w 212"/>
                  <a:gd name="T45" fmla="*/ 48 h 132"/>
                  <a:gd name="T46" fmla="*/ 60 w 212"/>
                  <a:gd name="T47" fmla="*/ 64 h 132"/>
                  <a:gd name="T48" fmla="*/ 62 w 212"/>
                  <a:gd name="T49" fmla="*/ 71 h 132"/>
                  <a:gd name="T50" fmla="*/ 25 w 212"/>
                  <a:gd name="T51" fmla="*/ 103 h 132"/>
                  <a:gd name="T52" fmla="*/ 16 w 212"/>
                  <a:gd name="T53" fmla="*/ 100 h 132"/>
                  <a:gd name="T54" fmla="*/ 0 w 212"/>
                  <a:gd name="T55" fmla="*/ 116 h 132"/>
                  <a:gd name="T56" fmla="*/ 16 w 212"/>
                  <a:gd name="T57" fmla="*/ 132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212" h="132">
                    <a:moveTo>
                      <a:pt x="16" y="132"/>
                    </a:moveTo>
                    <a:cubicBezTo>
                      <a:pt x="25" y="132"/>
                      <a:pt x="32" y="125"/>
                      <a:pt x="32" y="116"/>
                    </a:cubicBezTo>
                    <a:cubicBezTo>
                      <a:pt x="32" y="113"/>
                      <a:pt x="31" y="111"/>
                      <a:pt x="30" y="109"/>
                    </a:cubicBezTo>
                    <a:cubicBezTo>
                      <a:pt x="67" y="77"/>
                      <a:pt x="67" y="77"/>
                      <a:pt x="67" y="77"/>
                    </a:cubicBezTo>
                    <a:cubicBezTo>
                      <a:pt x="70" y="79"/>
                      <a:pt x="73" y="80"/>
                      <a:pt x="76" y="80"/>
                    </a:cubicBezTo>
                    <a:cubicBezTo>
                      <a:pt x="81" y="80"/>
                      <a:pt x="86" y="77"/>
                      <a:pt x="89" y="73"/>
                    </a:cubicBezTo>
                    <a:cubicBezTo>
                      <a:pt x="120" y="86"/>
                      <a:pt x="120" y="86"/>
                      <a:pt x="120" y="86"/>
                    </a:cubicBezTo>
                    <a:cubicBezTo>
                      <a:pt x="120" y="87"/>
                      <a:pt x="120" y="87"/>
                      <a:pt x="120" y="88"/>
                    </a:cubicBezTo>
                    <a:cubicBezTo>
                      <a:pt x="120" y="97"/>
                      <a:pt x="127" y="104"/>
                      <a:pt x="136" y="104"/>
                    </a:cubicBezTo>
                    <a:cubicBezTo>
                      <a:pt x="145" y="104"/>
                      <a:pt x="152" y="97"/>
                      <a:pt x="152" y="88"/>
                    </a:cubicBezTo>
                    <a:cubicBezTo>
                      <a:pt x="152" y="85"/>
                      <a:pt x="151" y="81"/>
                      <a:pt x="149" y="79"/>
                    </a:cubicBezTo>
                    <a:cubicBezTo>
                      <a:pt x="189" y="30"/>
                      <a:pt x="189" y="30"/>
                      <a:pt x="189" y="30"/>
                    </a:cubicBezTo>
                    <a:cubicBezTo>
                      <a:pt x="191" y="31"/>
                      <a:pt x="194" y="32"/>
                      <a:pt x="196" y="32"/>
                    </a:cubicBezTo>
                    <a:cubicBezTo>
                      <a:pt x="205" y="32"/>
                      <a:pt x="212" y="25"/>
                      <a:pt x="212" y="16"/>
                    </a:cubicBezTo>
                    <a:cubicBezTo>
                      <a:pt x="212" y="7"/>
                      <a:pt x="205" y="0"/>
                      <a:pt x="196" y="0"/>
                    </a:cubicBezTo>
                    <a:cubicBezTo>
                      <a:pt x="187" y="0"/>
                      <a:pt x="180" y="7"/>
                      <a:pt x="180" y="16"/>
                    </a:cubicBezTo>
                    <a:cubicBezTo>
                      <a:pt x="180" y="19"/>
                      <a:pt x="181" y="23"/>
                      <a:pt x="183" y="25"/>
                    </a:cubicBezTo>
                    <a:cubicBezTo>
                      <a:pt x="143" y="74"/>
                      <a:pt x="143" y="74"/>
                      <a:pt x="143" y="74"/>
                    </a:cubicBezTo>
                    <a:cubicBezTo>
                      <a:pt x="141" y="73"/>
                      <a:pt x="138" y="72"/>
                      <a:pt x="136" y="72"/>
                    </a:cubicBezTo>
                    <a:cubicBezTo>
                      <a:pt x="131" y="72"/>
                      <a:pt x="126" y="75"/>
                      <a:pt x="123" y="79"/>
                    </a:cubicBezTo>
                    <a:cubicBezTo>
                      <a:pt x="92" y="66"/>
                      <a:pt x="92" y="66"/>
                      <a:pt x="92" y="66"/>
                    </a:cubicBezTo>
                    <a:cubicBezTo>
                      <a:pt x="92" y="65"/>
                      <a:pt x="92" y="65"/>
                      <a:pt x="92" y="64"/>
                    </a:cubicBezTo>
                    <a:cubicBezTo>
                      <a:pt x="92" y="55"/>
                      <a:pt x="85" y="48"/>
                      <a:pt x="76" y="48"/>
                    </a:cubicBezTo>
                    <a:cubicBezTo>
                      <a:pt x="67" y="48"/>
                      <a:pt x="60" y="55"/>
                      <a:pt x="60" y="64"/>
                    </a:cubicBezTo>
                    <a:cubicBezTo>
                      <a:pt x="60" y="67"/>
                      <a:pt x="61" y="69"/>
                      <a:pt x="62" y="71"/>
                    </a:cubicBezTo>
                    <a:cubicBezTo>
                      <a:pt x="25" y="103"/>
                      <a:pt x="25" y="103"/>
                      <a:pt x="25" y="103"/>
                    </a:cubicBezTo>
                    <a:cubicBezTo>
                      <a:pt x="22" y="101"/>
                      <a:pt x="19" y="100"/>
                      <a:pt x="16" y="100"/>
                    </a:cubicBezTo>
                    <a:cubicBezTo>
                      <a:pt x="7" y="100"/>
                      <a:pt x="0" y="107"/>
                      <a:pt x="0" y="116"/>
                    </a:cubicBezTo>
                    <a:cubicBezTo>
                      <a:pt x="0" y="125"/>
                      <a:pt x="7" y="132"/>
                      <a:pt x="16" y="13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s-NI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C4A4A278-5358-49E0-A1A7-36047F3AFA46}"/>
                </a:ext>
              </a:extLst>
            </p:cNvPr>
            <p:cNvSpPr/>
            <p:nvPr/>
          </p:nvSpPr>
          <p:spPr>
            <a:xfrm>
              <a:off x="9189448" y="1449370"/>
              <a:ext cx="1617751" cy="215444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s-NI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NI" sz="800" err="1">
                  <a:solidFill>
                    <a:schemeClr val="bg1"/>
                  </a:solidFill>
                  <a:latin typeface="Arial Narrow" panose="020B0606020202030204" pitchFamily="34" charset="0"/>
                </a:rPr>
                <a:t>Within</a:t>
              </a:r>
              <a:r>
                <a:rPr lang="es-NI" sz="800">
                  <a:solidFill>
                    <a:schemeClr val="bg1"/>
                  </a:solidFill>
                  <a:latin typeface="Arial Narrow" panose="020B0606020202030204" pitchFamily="34" charset="0"/>
                </a:rPr>
                <a:t> </a:t>
              </a:r>
              <a:r>
                <a:rPr lang="es-NI" sz="800" err="1">
                  <a:solidFill>
                    <a:schemeClr val="bg1"/>
                  </a:solidFill>
                  <a:latin typeface="Arial Narrow" panose="020B0606020202030204" pitchFamily="34" charset="0"/>
                </a:rPr>
                <a:t>each</a:t>
              </a:r>
              <a:r>
                <a:rPr lang="es-NI" sz="800">
                  <a:solidFill>
                    <a:schemeClr val="bg1"/>
                  </a:solidFill>
                  <a:latin typeface="Arial Narrow" panose="020B0606020202030204" pitchFamily="34" charset="0"/>
                </a:rPr>
                <a:t> WD-</a:t>
              </a:r>
              <a:r>
                <a:rPr lang="es-NI" sz="800" err="1">
                  <a:solidFill>
                    <a:schemeClr val="bg1"/>
                  </a:solidFill>
                  <a:latin typeface="Arial Narrow" panose="020B0606020202030204" pitchFamily="34" charset="0"/>
                </a:rPr>
                <a:t>group</a:t>
              </a:r>
              <a:r>
                <a:rPr lang="es-NI" sz="800">
                  <a:solidFill>
                    <a:schemeClr val="bg1"/>
                  </a:solidFill>
                  <a:latin typeface="Arial Narrow" panose="020B0606020202030204" pitchFamily="34" charset="0"/>
                </a:rPr>
                <a:t> </a:t>
              </a:r>
              <a:r>
                <a:rPr lang="es-NI" sz="800" err="1">
                  <a:solidFill>
                    <a:schemeClr val="bg1"/>
                  </a:solidFill>
                  <a:latin typeface="Arial Narrow" panose="020B0606020202030204" pitchFamily="34" charset="0"/>
                </a:rPr>
                <a:t>competitive</a:t>
              </a:r>
              <a:r>
                <a:rPr lang="es-NI" sz="800">
                  <a:solidFill>
                    <a:schemeClr val="bg1"/>
                  </a:solidFill>
                  <a:latin typeface="Arial Narrow" panose="020B0606020202030204" pitchFamily="34" charset="0"/>
                </a:rPr>
                <a:t> set</a:t>
              </a:r>
            </a:p>
          </p:txBody>
        </p:sp>
        <p:pic>
          <p:nvPicPr>
            <p:cNvPr id="72" name="Graphic 10" descr="Medal">
              <a:extLst>
                <a:ext uri="{FF2B5EF4-FFF2-40B4-BE49-F238E27FC236}">
                  <a16:creationId xmlns:a16="http://schemas.microsoft.com/office/drawing/2014/main" id="{5D3D14B9-CCE4-44CC-81E4-2F101DC81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638679" y="1133152"/>
              <a:ext cx="442107" cy="4421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235766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>
            <a:extLst>
              <a:ext uri="{FF2B5EF4-FFF2-40B4-BE49-F238E27FC236}">
                <a16:creationId xmlns:a16="http://schemas.microsoft.com/office/drawing/2014/main" id="{58279696-6992-468F-AE8A-50C60FC21C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8B850612-DC2C-43B1-A74A-114280D39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14867"/>
            <a:ext cx="6096000" cy="6443132"/>
          </a:xfrm>
          <a:prstGeom prst="rect">
            <a:avLst/>
          </a:prstGeom>
          <a:solidFill>
            <a:schemeClr val="bg1">
              <a:lumMod val="95000"/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9479F78-2294-433B-B020-B2FFCC649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69043" y="772640"/>
            <a:ext cx="7971012" cy="52061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0D0B16C-C75A-4A23-8187-B450EA246FA9}"/>
              </a:ext>
            </a:extLst>
          </p:cNvPr>
          <p:cNvSpPr txBox="1"/>
          <p:nvPr/>
        </p:nvSpPr>
        <p:spPr>
          <a:xfrm>
            <a:off x="226533" y="3934858"/>
            <a:ext cx="3622431" cy="6463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Winn-Dixie’s share grew from 40.5% to 48.5% across the panel. That is an 8-point gain inside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competitive trade areas.</a:t>
            </a:r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676B77-2BD9-4066-B243-5BD5BCB9AC9C}"/>
              </a:ext>
            </a:extLst>
          </p:cNvPr>
          <p:cNvSpPr txBox="1"/>
          <p:nvPr/>
        </p:nvSpPr>
        <p:spPr>
          <a:xfrm>
            <a:off x="236114" y="1789559"/>
            <a:ext cx="3617128" cy="15066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tabLst>
                <a:tab pos="347663" algn="l"/>
              </a:tabLst>
            </a:pPr>
            <a:r>
              <a:rPr lang="en-US" sz="3200" b="1">
                <a:solidFill>
                  <a:schemeClr val="tx1">
                    <a:lumMod val="75000"/>
                    <a:lumOff val="25000"/>
                  </a:schemeClr>
                </a:solidFill>
                <a:latin typeface="Arial Nova Cond"/>
                <a:ea typeface="Calibri Light"/>
                <a:cs typeface="Calibri Light"/>
              </a:rPr>
              <a:t>Winn-Dixie share trend</a:t>
            </a:r>
            <a:br>
              <a:rPr lang="en-US" sz="3200" b="1">
                <a:solidFill>
                  <a:schemeClr val="tx1">
                    <a:lumMod val="75000"/>
                    <a:lumOff val="25000"/>
                  </a:schemeClr>
                </a:solidFill>
                <a:latin typeface="Arial Nova Cond"/>
                <a:ea typeface="Calibri Light"/>
                <a:cs typeface="Calibri Light"/>
              </a:rPr>
            </a:br>
            <a:r>
              <a:rPr lang="en-US" sz="3200" b="1">
                <a:solidFill>
                  <a:schemeClr val="tx1">
                    <a:lumMod val="75000"/>
                    <a:lumOff val="25000"/>
                  </a:schemeClr>
                </a:solidFill>
                <a:latin typeface="Arial Nova Cond"/>
                <a:ea typeface="Calibri Light"/>
                <a:cs typeface="Calibri Light"/>
              </a:rPr>
              <a:t>(competitive set)</a:t>
            </a:r>
            <a:endParaRPr lang="en-US" sz="3200">
              <a:solidFill>
                <a:schemeClr val="tx1">
                  <a:lumMod val="75000"/>
                  <a:lumOff val="25000"/>
                </a:schemeClr>
              </a:solidFill>
              <a:latin typeface="Arial Nova Cond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676100A-ED10-46A1-830F-9AD44F9D03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26532" y="3589113"/>
            <a:ext cx="146304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 descr="A red sign with white text&#10;&#10;AI-generated content may be incorrect.">
            <a:extLst>
              <a:ext uri="{FF2B5EF4-FFF2-40B4-BE49-F238E27FC236}">
                <a16:creationId xmlns:a16="http://schemas.microsoft.com/office/drawing/2014/main" id="{9ADE84FF-87C4-1BD3-B9D9-0C38AAA4B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2286" y="6161210"/>
            <a:ext cx="1057275" cy="5143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8ED7AF-113A-033E-400A-C99C27E848A0}"/>
              </a:ext>
            </a:extLst>
          </p:cNvPr>
          <p:cNvSpPr txBox="1"/>
          <p:nvPr/>
        </p:nvSpPr>
        <p:spPr>
          <a:xfrm>
            <a:off x="0" y="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0" i="0" u="none" strike="noStrike" baseline="0">
                <a:solidFill>
                  <a:schemeClr val="bg1"/>
                </a:solidFill>
                <a:latin typeface="Arial Nova Cond"/>
              </a:rPr>
              <a:t>Southeastern Grocers – </a:t>
            </a:r>
            <a:r>
              <a:rPr lang="en-US">
                <a:solidFill>
                  <a:schemeClr val="bg1"/>
                </a:solidFill>
                <a:latin typeface="Arial Nova Cond"/>
              </a:rPr>
              <a:t>Winn-Dixie </a:t>
            </a:r>
            <a:r>
              <a:rPr lang="en-US" sz="1800" b="0" i="0" u="none" strike="noStrike" baseline="0">
                <a:solidFill>
                  <a:schemeClr val="bg1"/>
                </a:solidFill>
                <a:latin typeface="Arial Nova Cond"/>
              </a:rPr>
              <a:t>Print to Digital Campaign</a:t>
            </a:r>
            <a:endParaRPr lang="en-US">
              <a:solidFill>
                <a:schemeClr val="bg1"/>
              </a:solidFill>
              <a:latin typeface="Arial Nova Cond"/>
            </a:endParaRPr>
          </a:p>
          <a:p>
            <a:endParaRPr lang="en-US">
              <a:solidFill>
                <a:srgbClr val="FFFFFF"/>
              </a:solidFill>
              <a:latin typeface="Arial Nova Cond"/>
            </a:endParaRPr>
          </a:p>
        </p:txBody>
      </p:sp>
      <p:pic>
        <p:nvPicPr>
          <p:cNvPr id="2" name="Picture 1" descr="A graph on a black background&#10;&#10;AI-generated content may be incorrect.">
            <a:extLst>
              <a:ext uri="{FF2B5EF4-FFF2-40B4-BE49-F238E27FC236}">
                <a16:creationId xmlns:a16="http://schemas.microsoft.com/office/drawing/2014/main" id="{2788E764-6303-25F4-050E-EEC6876D7B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7740" y="1004104"/>
            <a:ext cx="7614150" cy="4765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5725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C5C77-C80B-8460-CFEE-361528F3E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>
            <a:extLst>
              <a:ext uri="{FF2B5EF4-FFF2-40B4-BE49-F238E27FC236}">
                <a16:creationId xmlns:a16="http://schemas.microsoft.com/office/drawing/2014/main" id="{9921A591-6C37-F030-7748-7660EE59A9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7FE476DC-2021-B4C9-AF5F-34F307101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14867"/>
            <a:ext cx="6096000" cy="6443132"/>
          </a:xfrm>
          <a:prstGeom prst="rect">
            <a:avLst/>
          </a:prstGeom>
          <a:solidFill>
            <a:schemeClr val="bg1">
              <a:lumMod val="95000"/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858931F-5FD7-2896-F63E-3DD344B56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70531" y="682613"/>
            <a:ext cx="8032586" cy="5108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04EF0FF-9337-2528-E436-84CF2382E374}"/>
              </a:ext>
            </a:extLst>
          </p:cNvPr>
          <p:cNvSpPr txBox="1"/>
          <p:nvPr/>
        </p:nvSpPr>
        <p:spPr>
          <a:xfrm>
            <a:off x="237116" y="3806231"/>
            <a:ext cx="3330169" cy="86177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Volume naturally fluctuates due to holidays, but when we pair this with frequency data, we see something more important: loyalty is increasing even when volume normalizes.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5D56CC-9CAC-47F9-EF21-C3FA6B69AE12}"/>
              </a:ext>
            </a:extLst>
          </p:cNvPr>
          <p:cNvSpPr txBox="1"/>
          <p:nvPr/>
        </p:nvSpPr>
        <p:spPr>
          <a:xfrm>
            <a:off x="236114" y="1783862"/>
            <a:ext cx="3617128" cy="147732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tabLst>
                <a:tab pos="347663" algn="l"/>
              </a:tabLst>
            </a:pPr>
            <a:r>
              <a:rPr lang="en-US" sz="3200" b="1">
                <a:solidFill>
                  <a:schemeClr val="tx1">
                    <a:lumMod val="75000"/>
                    <a:lumOff val="25000"/>
                  </a:schemeClr>
                </a:solidFill>
                <a:latin typeface="Arial Nova Cond"/>
                <a:ea typeface="+mn-lt"/>
                <a:cs typeface="+mn-lt"/>
              </a:rPr>
              <a:t>Weekly visits: </a:t>
            </a:r>
            <a:br>
              <a:rPr lang="en-US" sz="3200" b="1">
                <a:solidFill>
                  <a:schemeClr val="tx1">
                    <a:lumMod val="75000"/>
                    <a:lumOff val="25000"/>
                  </a:schemeClr>
                </a:solidFill>
                <a:latin typeface="Arial Nova Cond"/>
                <a:ea typeface="+mn-lt"/>
                <a:cs typeface="+mn-lt"/>
              </a:rPr>
            </a:br>
            <a:r>
              <a:rPr lang="en-US" sz="3200" b="1">
                <a:solidFill>
                  <a:schemeClr val="tx1">
                    <a:lumMod val="75000"/>
                    <a:lumOff val="25000"/>
                  </a:schemeClr>
                </a:solidFill>
                <a:latin typeface="Arial Nova Cond"/>
                <a:ea typeface="+mn-lt"/>
                <a:cs typeface="+mn-lt"/>
              </a:rPr>
              <a:t>Winn-Dixie vs competitors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1A1F379-98BF-9A8D-560B-0D101E231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26532" y="3551665"/>
            <a:ext cx="146304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 descr="A red sign with white text&#10;&#10;AI-generated content may be incorrect.">
            <a:extLst>
              <a:ext uri="{FF2B5EF4-FFF2-40B4-BE49-F238E27FC236}">
                <a16:creationId xmlns:a16="http://schemas.microsoft.com/office/drawing/2014/main" id="{433FC18A-06B4-2295-1A46-FA242B6C4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2286" y="6161210"/>
            <a:ext cx="1057275" cy="5143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B8FD21-35FD-C250-F6FC-0E00F5607BF1}"/>
              </a:ext>
            </a:extLst>
          </p:cNvPr>
          <p:cNvSpPr txBox="1"/>
          <p:nvPr/>
        </p:nvSpPr>
        <p:spPr>
          <a:xfrm>
            <a:off x="0" y="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0" i="0" u="none" strike="noStrike" baseline="0">
                <a:solidFill>
                  <a:schemeClr val="bg1"/>
                </a:solidFill>
                <a:latin typeface="Arial Nova Cond"/>
              </a:rPr>
              <a:t>Southeastern Grocers – </a:t>
            </a:r>
            <a:r>
              <a:rPr lang="en-US">
                <a:solidFill>
                  <a:schemeClr val="bg1"/>
                </a:solidFill>
                <a:latin typeface="Arial Nova Cond"/>
              </a:rPr>
              <a:t>Winn-Dixie </a:t>
            </a:r>
            <a:r>
              <a:rPr lang="en-US" sz="1800" b="0" i="0" u="none" strike="noStrike" baseline="0">
                <a:solidFill>
                  <a:schemeClr val="bg1"/>
                </a:solidFill>
                <a:latin typeface="Arial Nova Cond"/>
              </a:rPr>
              <a:t>Print to Digital Campaign</a:t>
            </a:r>
            <a:endParaRPr lang="en-US">
              <a:solidFill>
                <a:schemeClr val="bg1"/>
              </a:solidFill>
              <a:latin typeface="Arial Nova Cond"/>
            </a:endParaRPr>
          </a:p>
          <a:p>
            <a:endParaRPr lang="en-US">
              <a:solidFill>
                <a:srgbClr val="FFFFFF"/>
              </a:solidFill>
              <a:latin typeface="Arial Nova Cond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C7D294-2C71-5E94-BDA1-2FC7F139B7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9106" y="914077"/>
            <a:ext cx="7716865" cy="480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0548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77ACF-3F14-4087-A5DC-4420E0B8E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NI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2A3F7B-BBA8-45DE-9657-4FC1E22713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3B53368-4163-494F-B2BB-E4D65FF6C3AF}"/>
              </a:ext>
            </a:extLst>
          </p:cNvPr>
          <p:cNvSpPr/>
          <p:nvPr/>
        </p:nvSpPr>
        <p:spPr>
          <a:xfrm>
            <a:off x="0" y="874007"/>
            <a:ext cx="12192000" cy="53277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C6B96D-E040-4B74-9B7E-3D5B52F15B45}"/>
              </a:ext>
            </a:extLst>
          </p:cNvPr>
          <p:cNvSpPr txBox="1"/>
          <p:nvPr/>
        </p:nvSpPr>
        <p:spPr>
          <a:xfrm>
            <a:off x="750793" y="472178"/>
            <a:ext cx="10905565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/>
              </a:rPr>
              <a:t>Growth Stores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36C0E2-FC79-407C-8293-5B821AE5D568}"/>
              </a:ext>
            </a:extLst>
          </p:cNvPr>
          <p:cNvSpPr txBox="1"/>
          <p:nvPr/>
        </p:nvSpPr>
        <p:spPr>
          <a:xfrm>
            <a:off x="1463904" y="973710"/>
            <a:ext cx="92641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endParaRPr lang="en-US" sz="2000" dirty="0">
              <a:solidFill>
                <a:srgbClr val="595959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68B2E3-6A52-7C04-F74D-D9DF82B0D2B9}"/>
              </a:ext>
            </a:extLst>
          </p:cNvPr>
          <p:cNvSpPr txBox="1"/>
          <p:nvPr/>
        </p:nvSpPr>
        <p:spPr>
          <a:xfrm>
            <a:off x="0" y="1"/>
            <a:ext cx="672123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1800" baseline="0" dirty="0">
                <a:solidFill>
                  <a:srgbClr val="FFFFFF"/>
                </a:solidFill>
                <a:latin typeface="Arial Nova Cond"/>
                <a:ea typeface="Segoe UI"/>
                <a:cs typeface="Segoe UI"/>
              </a:rPr>
              <a:t>Southeastern Grocers – Winn-Dixie Print to Digital Campaign</a:t>
            </a:r>
            <a:r>
              <a:rPr lang="en-US" sz="1800" dirty="0">
                <a:latin typeface="Arial Nova Cond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800" dirty="0">
                <a:latin typeface="Arial Nova Cond"/>
                <a:ea typeface="Segoe UI"/>
                <a:cs typeface="Segoe UI"/>
              </a:rPr>
              <a:t>​</a:t>
            </a:r>
          </a:p>
          <a:p>
            <a:pPr algn="ctr"/>
            <a:endParaRPr lang="en-US" dirty="0"/>
          </a:p>
        </p:txBody>
      </p:sp>
      <p:pic>
        <p:nvPicPr>
          <p:cNvPr id="9" name="Picture 8" descr="A red sign with white text&#10;&#10;AI-generated content may be incorrect.">
            <a:extLst>
              <a:ext uri="{FF2B5EF4-FFF2-40B4-BE49-F238E27FC236}">
                <a16:creationId xmlns:a16="http://schemas.microsoft.com/office/drawing/2014/main" id="{531EC647-0A80-8FAA-7442-25DEA7361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2978" y="6278441"/>
            <a:ext cx="1057275" cy="514350"/>
          </a:xfrm>
          <a:prstGeom prst="rect">
            <a:avLst/>
          </a:prstGeom>
        </p:spPr>
      </p:pic>
      <p:graphicFrame>
        <p:nvGraphicFramePr>
          <p:cNvPr id="50" name="Table 10">
            <a:extLst>
              <a:ext uri="{FF2B5EF4-FFF2-40B4-BE49-F238E27FC236}">
                <a16:creationId xmlns:a16="http://schemas.microsoft.com/office/drawing/2014/main" id="{7FAFEDB3-1624-4DA2-844D-78C7F1A78C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1189138"/>
              </p:ext>
            </p:extLst>
          </p:nvPr>
        </p:nvGraphicFramePr>
        <p:xfrm>
          <a:off x="838199" y="993976"/>
          <a:ext cx="10515599" cy="477012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082371">
                  <a:extLst>
                    <a:ext uri="{9D8B030D-6E8A-4147-A177-3AD203B41FA5}">
                      <a16:colId xmlns:a16="http://schemas.microsoft.com/office/drawing/2014/main" val="1718574042"/>
                    </a:ext>
                  </a:extLst>
                </a:gridCol>
                <a:gridCol w="1540121">
                  <a:extLst>
                    <a:ext uri="{9D8B030D-6E8A-4147-A177-3AD203B41FA5}">
                      <a16:colId xmlns:a16="http://schemas.microsoft.com/office/drawing/2014/main" val="1378743210"/>
                    </a:ext>
                  </a:extLst>
                </a:gridCol>
                <a:gridCol w="965580">
                  <a:extLst>
                    <a:ext uri="{9D8B030D-6E8A-4147-A177-3AD203B41FA5}">
                      <a16:colId xmlns:a16="http://schemas.microsoft.com/office/drawing/2014/main" val="1758100989"/>
                    </a:ext>
                  </a:extLst>
                </a:gridCol>
                <a:gridCol w="1274181">
                  <a:extLst>
                    <a:ext uri="{9D8B030D-6E8A-4147-A177-3AD203B41FA5}">
                      <a16:colId xmlns:a16="http://schemas.microsoft.com/office/drawing/2014/main" val="1327057791"/>
                    </a:ext>
                  </a:extLst>
                </a:gridCol>
                <a:gridCol w="3653346">
                  <a:extLst>
                    <a:ext uri="{9D8B030D-6E8A-4147-A177-3AD203B41FA5}">
                      <a16:colId xmlns:a16="http://schemas.microsoft.com/office/drawing/2014/main" val="35330997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rial Narrow" panose="020B0606020202030204" pitchFamily="34" charset="0"/>
                        </a:rPr>
                        <a:t>Winn-Dixie Store</a:t>
                      </a:r>
                      <a:endParaRPr lang="es-NI" sz="1600" dirty="0">
                        <a:solidFill>
                          <a:schemeClr val="bg1">
                            <a:lumMod val="95000"/>
                          </a:schemeClr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rial Narrow" panose="020B0606020202030204" pitchFamily="34" charset="0"/>
                        </a:rPr>
                        <a:t>BFWk3</a:t>
                      </a:r>
                      <a:endParaRPr lang="es-NI" sz="1600" dirty="0">
                        <a:solidFill>
                          <a:schemeClr val="bg1">
                            <a:lumMod val="95000"/>
                          </a:schemeClr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rial Narrow" panose="020B0606020202030204" pitchFamily="34" charset="0"/>
                        </a:rPr>
                        <a:t>P2DWk2</a:t>
                      </a:r>
                      <a:endParaRPr lang="es-NI" sz="1600" dirty="0">
                        <a:solidFill>
                          <a:schemeClr val="bg1">
                            <a:lumMod val="95000"/>
                          </a:schemeClr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rial Narrow" panose="020B0606020202030204" pitchFamily="34" charset="0"/>
                        </a:rPr>
                        <a:t>Market Shift</a:t>
                      </a:r>
                      <a:endParaRPr lang="es-NI" sz="1600" dirty="0">
                        <a:solidFill>
                          <a:schemeClr val="bg1">
                            <a:lumMod val="95000"/>
                          </a:schemeClr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rial Narrow" panose="020B0606020202030204" pitchFamily="34" charset="0"/>
                        </a:rPr>
                        <a:t>Primary Threat</a:t>
                      </a:r>
                      <a:endParaRPr lang="es-NI" sz="1600" dirty="0">
                        <a:solidFill>
                          <a:schemeClr val="bg1">
                            <a:lumMod val="95000"/>
                          </a:schemeClr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9E9E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09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Winn-Dixie 726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EB8783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12.91%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EB8783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82.14%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EB8783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+69.23%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EB8783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</a:rPr>
                        <a:t>Publix Super Market at Calusa Cay</a:t>
                      </a:r>
                    </a:p>
                  </a:txBody>
                  <a:tcPr>
                    <a:solidFill>
                      <a:srgbClr val="EB8783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996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Winn-Dixie 381 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54.28%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71.15%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+16.87%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</a:rPr>
                        <a:t>Cap </a:t>
                      </a:r>
                      <a:r>
                        <a:rPr lang="en-US" sz="10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</a:rPr>
                        <a:t>Haitien</a:t>
                      </a:r>
                      <a:r>
                        <a:rPr 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</a:rPr>
                        <a:t> Supermarket at  216 SW 6th St, Belle Glade, FL 33430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384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NI" sz="1600" dirty="0" err="1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Winn</a:t>
                      </a:r>
                      <a:r>
                        <a:rPr lang="es-NI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-Dixie 336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38.81%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54.37%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+</a:t>
                      </a:r>
                      <a:r>
                        <a:rPr lang="es-NI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15.56%</a:t>
                      </a:r>
                      <a:endParaRPr lang="en-US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</a:rPr>
                        <a:t>Publix Super Market at Oakbridge-3102 Griffin Road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655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NI" sz="1600" dirty="0" err="1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Winn</a:t>
                      </a:r>
                      <a:r>
                        <a:rPr lang="es-NI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-Dixie 2437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52.17%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64.14%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+11.98%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</a:rPr>
                        <a:t>Publix Super Market at Pearl Britain Plaza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274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NI" sz="1600" dirty="0" err="1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Winn</a:t>
                      </a:r>
                      <a:r>
                        <a:rPr lang="es-NI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-Dixie 2288</a:t>
                      </a:r>
                    </a:p>
                  </a:txBody>
                  <a:tcPr>
                    <a:solidFill>
                      <a:srgbClr val="EB8783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45.31%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EB8783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56.65%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EB8783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+11.34%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EB8783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</a:rPr>
                        <a:t>Publix Super Market at Conway Crossing</a:t>
                      </a:r>
                    </a:p>
                  </a:txBody>
                  <a:tcPr>
                    <a:solidFill>
                      <a:srgbClr val="EB8783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804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NI" sz="1600" dirty="0" err="1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Winn</a:t>
                      </a:r>
                      <a:r>
                        <a:rPr lang="es-NI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-Dixie 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38.35%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48.54%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+10.20%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</a:rPr>
                        <a:t>Publix Super Market at Hernando West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343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NI" sz="1600" dirty="0" err="1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Winn</a:t>
                      </a:r>
                      <a:r>
                        <a:rPr lang="es-NI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-Dixie 493</a:t>
                      </a:r>
                    </a:p>
                  </a:txBody>
                  <a:tcPr>
                    <a:solidFill>
                      <a:srgbClr val="EB8783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42.68%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EB8783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50.37%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EB8783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+7.69%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EB8783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</a:rPr>
                        <a:t>Publix Super Market at Shops At </a:t>
                      </a:r>
                      <a:r>
                        <a:rPr lang="en-US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</a:rPr>
                        <a:t>Perdido</a:t>
                      </a: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</a:rPr>
                        <a:t> Key</a:t>
                      </a:r>
                    </a:p>
                  </a:txBody>
                  <a:tcPr>
                    <a:solidFill>
                      <a:srgbClr val="EB8783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382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NI" sz="1600" dirty="0" err="1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Winn</a:t>
                      </a:r>
                      <a:r>
                        <a:rPr lang="es-NI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-Dixie 358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77.78%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85.00%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+7.22%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</a:rPr>
                        <a:t>Tindahan</a:t>
                      </a:r>
                      <a:r>
                        <a:rPr 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</a:rPr>
                        <a:t> – The Little Asian Store at  33 Ships Way, Big Pine Key, FL 33043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413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NI" sz="1600" dirty="0" err="1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Winn</a:t>
                      </a:r>
                      <a:r>
                        <a:rPr lang="es-NI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-Dixie 2568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27.66%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34.68%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+7.01%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</a:rPr>
                        <a:t>Aldi at 1539 W New Haven Ave, Melbourne, Fl 32904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46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NI" sz="1600" dirty="0" err="1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Winn</a:t>
                      </a:r>
                      <a:r>
                        <a:rPr lang="es-NI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-Dixie 2448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39.07%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43.86%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+4.79%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</a:rPr>
                        <a:t>Publix Super Market at Westgate Shopping Center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485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NI" sz="1600" dirty="0" err="1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Winn</a:t>
                      </a:r>
                      <a:r>
                        <a:rPr lang="es-NI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-Dixie 436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37.96%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42.40%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+4.44%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</a:rPr>
                        <a:t>Aldi at 3157 West 23Rd Street, Lynn Haven, Fl 32444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1066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NI" sz="1600" dirty="0" err="1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Winn</a:t>
                      </a:r>
                      <a:r>
                        <a:rPr lang="es-NI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-Dixie 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45.87%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49.08%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+3.21%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</a:rPr>
                        <a:t>Caribe Breeze Food Market at 7244 Blanding Blvd, Jack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323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NI" sz="1600" dirty="0" err="1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Winn</a:t>
                      </a:r>
                      <a:r>
                        <a:rPr lang="es-NI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-Dixie 2556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17.96%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20.73%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+2.77%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</a:rPr>
                        <a:t>Publix Super Market at Mandarin Oaks Shopping Center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385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41683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77ACF-3F14-4087-A5DC-4420E0B8E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NI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2A3F7B-BBA8-45DE-9657-4FC1E22713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3B53368-4163-494F-B2BB-E4D65FF6C3AF}"/>
              </a:ext>
            </a:extLst>
          </p:cNvPr>
          <p:cNvSpPr/>
          <p:nvPr/>
        </p:nvSpPr>
        <p:spPr>
          <a:xfrm>
            <a:off x="0" y="874007"/>
            <a:ext cx="12192000" cy="53277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C6B96D-E040-4B74-9B7E-3D5B52F15B45}"/>
              </a:ext>
            </a:extLst>
          </p:cNvPr>
          <p:cNvSpPr txBox="1"/>
          <p:nvPr/>
        </p:nvSpPr>
        <p:spPr>
          <a:xfrm>
            <a:off x="750793" y="472178"/>
            <a:ext cx="10905565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/>
              </a:rPr>
              <a:t>Neutral Stores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36C0E2-FC79-407C-8293-5B821AE5D568}"/>
              </a:ext>
            </a:extLst>
          </p:cNvPr>
          <p:cNvSpPr txBox="1"/>
          <p:nvPr/>
        </p:nvSpPr>
        <p:spPr>
          <a:xfrm>
            <a:off x="1463904" y="973710"/>
            <a:ext cx="92641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endParaRPr lang="en-US" sz="2000" dirty="0">
              <a:solidFill>
                <a:srgbClr val="595959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68B2E3-6A52-7C04-F74D-D9DF82B0D2B9}"/>
              </a:ext>
            </a:extLst>
          </p:cNvPr>
          <p:cNvSpPr txBox="1"/>
          <p:nvPr/>
        </p:nvSpPr>
        <p:spPr>
          <a:xfrm>
            <a:off x="0" y="1"/>
            <a:ext cx="672123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1800" baseline="0" dirty="0">
                <a:solidFill>
                  <a:srgbClr val="FFFFFF"/>
                </a:solidFill>
                <a:latin typeface="Arial Nova Cond"/>
                <a:ea typeface="Segoe UI"/>
                <a:cs typeface="Segoe UI"/>
              </a:rPr>
              <a:t>Southeastern Grocers – Winn-Dixie Print to Digital Campaign</a:t>
            </a:r>
            <a:r>
              <a:rPr lang="en-US" sz="1800" dirty="0">
                <a:latin typeface="Arial Nova Cond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800" dirty="0">
                <a:latin typeface="Arial Nova Cond"/>
                <a:ea typeface="Segoe UI"/>
                <a:cs typeface="Segoe UI"/>
              </a:rPr>
              <a:t>​</a:t>
            </a:r>
          </a:p>
          <a:p>
            <a:pPr algn="ctr"/>
            <a:endParaRPr lang="en-US" dirty="0"/>
          </a:p>
        </p:txBody>
      </p:sp>
      <p:pic>
        <p:nvPicPr>
          <p:cNvPr id="9" name="Picture 8" descr="A red sign with white text&#10;&#10;AI-generated content may be incorrect.">
            <a:extLst>
              <a:ext uri="{FF2B5EF4-FFF2-40B4-BE49-F238E27FC236}">
                <a16:creationId xmlns:a16="http://schemas.microsoft.com/office/drawing/2014/main" id="{531EC647-0A80-8FAA-7442-25DEA7361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2978" y="6278441"/>
            <a:ext cx="1057275" cy="514350"/>
          </a:xfrm>
          <a:prstGeom prst="rect">
            <a:avLst/>
          </a:prstGeom>
        </p:spPr>
      </p:pic>
      <p:graphicFrame>
        <p:nvGraphicFramePr>
          <p:cNvPr id="50" name="Table 10">
            <a:extLst>
              <a:ext uri="{FF2B5EF4-FFF2-40B4-BE49-F238E27FC236}">
                <a16:creationId xmlns:a16="http://schemas.microsoft.com/office/drawing/2014/main" id="{7FAFEDB3-1624-4DA2-844D-78C7F1A78C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3242916"/>
              </p:ext>
            </p:extLst>
          </p:nvPr>
        </p:nvGraphicFramePr>
        <p:xfrm>
          <a:off x="744069" y="993976"/>
          <a:ext cx="10515598" cy="225552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297810">
                  <a:extLst>
                    <a:ext uri="{9D8B030D-6E8A-4147-A177-3AD203B41FA5}">
                      <a16:colId xmlns:a16="http://schemas.microsoft.com/office/drawing/2014/main" val="1718574042"/>
                    </a:ext>
                  </a:extLst>
                </a:gridCol>
                <a:gridCol w="918809">
                  <a:extLst>
                    <a:ext uri="{9D8B030D-6E8A-4147-A177-3AD203B41FA5}">
                      <a16:colId xmlns:a16="http://schemas.microsoft.com/office/drawing/2014/main" val="1378743210"/>
                    </a:ext>
                  </a:extLst>
                </a:gridCol>
                <a:gridCol w="1036605">
                  <a:extLst>
                    <a:ext uri="{9D8B030D-6E8A-4147-A177-3AD203B41FA5}">
                      <a16:colId xmlns:a16="http://schemas.microsoft.com/office/drawing/2014/main" val="1758100989"/>
                    </a:ext>
                  </a:extLst>
                </a:gridCol>
                <a:gridCol w="1367906">
                  <a:extLst>
                    <a:ext uri="{9D8B030D-6E8A-4147-A177-3AD203B41FA5}">
                      <a16:colId xmlns:a16="http://schemas.microsoft.com/office/drawing/2014/main" val="1327057791"/>
                    </a:ext>
                  </a:extLst>
                </a:gridCol>
                <a:gridCol w="3894468">
                  <a:extLst>
                    <a:ext uri="{9D8B030D-6E8A-4147-A177-3AD203B41FA5}">
                      <a16:colId xmlns:a16="http://schemas.microsoft.com/office/drawing/2014/main" val="35330997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rial Narrow" panose="020B0606020202030204" pitchFamily="34" charset="0"/>
                        </a:rPr>
                        <a:t>Winn-Dixie Store</a:t>
                      </a:r>
                      <a:endParaRPr lang="es-NI" sz="1600" dirty="0">
                        <a:solidFill>
                          <a:schemeClr val="bg1">
                            <a:lumMod val="95000"/>
                          </a:schemeClr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rial Narrow" panose="020B0606020202030204" pitchFamily="34" charset="0"/>
                        </a:rPr>
                        <a:t>BFWk3</a:t>
                      </a:r>
                      <a:endParaRPr lang="es-NI" sz="1600" dirty="0">
                        <a:solidFill>
                          <a:schemeClr val="bg1">
                            <a:lumMod val="95000"/>
                          </a:schemeClr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rial Narrow" panose="020B0606020202030204" pitchFamily="34" charset="0"/>
                        </a:rPr>
                        <a:t>P2DWk2</a:t>
                      </a:r>
                      <a:endParaRPr lang="es-NI" sz="1600" dirty="0">
                        <a:solidFill>
                          <a:schemeClr val="bg1">
                            <a:lumMod val="95000"/>
                          </a:schemeClr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rial Narrow" panose="020B0606020202030204" pitchFamily="34" charset="0"/>
                        </a:rPr>
                        <a:t>Market Shift</a:t>
                      </a:r>
                      <a:endParaRPr lang="es-NI" sz="1600" dirty="0">
                        <a:solidFill>
                          <a:schemeClr val="bg1">
                            <a:lumMod val="95000"/>
                          </a:schemeClr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rial Narrow" panose="020B0606020202030204" pitchFamily="34" charset="0"/>
                        </a:rPr>
                        <a:t>Primary Threat</a:t>
                      </a:r>
                      <a:endParaRPr lang="es-NI" sz="1600" dirty="0">
                        <a:solidFill>
                          <a:schemeClr val="bg1">
                            <a:lumMod val="95000"/>
                          </a:schemeClr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9E9E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09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Winn-Dixie 2423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39.82%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41.67%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+1.85%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</a:rPr>
                        <a:t>Publix Super Market at Terrace Ridge Plaza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996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Winn-Dixie 2269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37.46%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38.75%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+1.29%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</a:rPr>
                        <a:t>Walmart Neighborhood Market at 433 Avalon Park South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384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NI" sz="1600" dirty="0" err="1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Winn</a:t>
                      </a:r>
                      <a:r>
                        <a:rPr lang="es-NI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-Dixie 349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57.91%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56.79%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-1.12</a:t>
                      </a:r>
                      <a:r>
                        <a:rPr lang="es-NI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%</a:t>
                      </a:r>
                      <a:endParaRPr lang="en-US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</a:rPr>
                        <a:t>The Fresh Market at 4633 N University Dr, Coral Springs, FL 33067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655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NI" sz="1600" dirty="0" err="1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Winn</a:t>
                      </a:r>
                      <a:r>
                        <a:rPr lang="es-NI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-Dixie 481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47.49%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46.37%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-1.12%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</a:rPr>
                        <a:t>Aldi at 5500 E 7Th St, Panama City, Fl 32404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274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NI" sz="1600" dirty="0" err="1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Winn</a:t>
                      </a:r>
                      <a:r>
                        <a:rPr lang="es-NI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-Dixie 343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54.60%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53.43%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-1.17%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</a:rPr>
                        <a:t>Walmart Neighborhood Market at 3791 NW 167th St, Miami Gardens, FL 33055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804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98584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77ACF-3F14-4087-A5DC-4420E0B8E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NI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2A3F7B-BBA8-45DE-9657-4FC1E22713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3B53368-4163-494F-B2BB-E4D65FF6C3AF}"/>
              </a:ext>
            </a:extLst>
          </p:cNvPr>
          <p:cNvSpPr/>
          <p:nvPr/>
        </p:nvSpPr>
        <p:spPr>
          <a:xfrm>
            <a:off x="0" y="874007"/>
            <a:ext cx="12192000" cy="53277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C6B96D-E040-4B74-9B7E-3D5B52F15B45}"/>
              </a:ext>
            </a:extLst>
          </p:cNvPr>
          <p:cNvSpPr txBox="1"/>
          <p:nvPr/>
        </p:nvSpPr>
        <p:spPr>
          <a:xfrm>
            <a:off x="750793" y="472178"/>
            <a:ext cx="10905565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/>
              </a:rPr>
              <a:t>Opportunity Stores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36C0E2-FC79-407C-8293-5B821AE5D568}"/>
              </a:ext>
            </a:extLst>
          </p:cNvPr>
          <p:cNvSpPr txBox="1"/>
          <p:nvPr/>
        </p:nvSpPr>
        <p:spPr>
          <a:xfrm>
            <a:off x="1463904" y="973710"/>
            <a:ext cx="92641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endParaRPr lang="en-US" sz="2000" dirty="0">
              <a:solidFill>
                <a:srgbClr val="595959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68B2E3-6A52-7C04-F74D-D9DF82B0D2B9}"/>
              </a:ext>
            </a:extLst>
          </p:cNvPr>
          <p:cNvSpPr txBox="1"/>
          <p:nvPr/>
        </p:nvSpPr>
        <p:spPr>
          <a:xfrm>
            <a:off x="0" y="1"/>
            <a:ext cx="67212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1800" baseline="0" dirty="0">
                <a:solidFill>
                  <a:srgbClr val="FFFFFF"/>
                </a:solidFill>
                <a:latin typeface="Arial Nova Cond"/>
                <a:ea typeface="Segoe UI"/>
                <a:cs typeface="Segoe UI"/>
              </a:rPr>
              <a:t>Southeastern Grocers – Winn-Dixie Print to Digital Campaign</a:t>
            </a:r>
            <a:endParaRPr lang="en-US" dirty="0"/>
          </a:p>
        </p:txBody>
      </p:sp>
      <p:pic>
        <p:nvPicPr>
          <p:cNvPr id="9" name="Picture 8" descr="A red sign with white text&#10;&#10;AI-generated content may be incorrect.">
            <a:extLst>
              <a:ext uri="{FF2B5EF4-FFF2-40B4-BE49-F238E27FC236}">
                <a16:creationId xmlns:a16="http://schemas.microsoft.com/office/drawing/2014/main" id="{531EC647-0A80-8FAA-7442-25DEA7361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2978" y="6278441"/>
            <a:ext cx="1057275" cy="514350"/>
          </a:xfrm>
          <a:prstGeom prst="rect">
            <a:avLst/>
          </a:prstGeom>
        </p:spPr>
      </p:pic>
      <p:graphicFrame>
        <p:nvGraphicFramePr>
          <p:cNvPr id="50" name="Table 10">
            <a:extLst>
              <a:ext uri="{FF2B5EF4-FFF2-40B4-BE49-F238E27FC236}">
                <a16:creationId xmlns:a16="http://schemas.microsoft.com/office/drawing/2014/main" id="{7FAFEDB3-1624-4DA2-844D-78C7F1A78C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5247350"/>
              </p:ext>
            </p:extLst>
          </p:nvPr>
        </p:nvGraphicFramePr>
        <p:xfrm>
          <a:off x="744070" y="993976"/>
          <a:ext cx="10515599" cy="100584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211109">
                  <a:extLst>
                    <a:ext uri="{9D8B030D-6E8A-4147-A177-3AD203B41FA5}">
                      <a16:colId xmlns:a16="http://schemas.microsoft.com/office/drawing/2014/main" val="1718574042"/>
                    </a:ext>
                  </a:extLst>
                </a:gridCol>
                <a:gridCol w="971087">
                  <a:extLst>
                    <a:ext uri="{9D8B030D-6E8A-4147-A177-3AD203B41FA5}">
                      <a16:colId xmlns:a16="http://schemas.microsoft.com/office/drawing/2014/main" val="1378743210"/>
                    </a:ext>
                  </a:extLst>
                </a:gridCol>
                <a:gridCol w="1095585">
                  <a:extLst>
                    <a:ext uri="{9D8B030D-6E8A-4147-A177-3AD203B41FA5}">
                      <a16:colId xmlns:a16="http://schemas.microsoft.com/office/drawing/2014/main" val="1758100989"/>
                    </a:ext>
                  </a:extLst>
                </a:gridCol>
                <a:gridCol w="1445737">
                  <a:extLst>
                    <a:ext uri="{9D8B030D-6E8A-4147-A177-3AD203B41FA5}">
                      <a16:colId xmlns:a16="http://schemas.microsoft.com/office/drawing/2014/main" val="1327057791"/>
                    </a:ext>
                  </a:extLst>
                </a:gridCol>
                <a:gridCol w="3792081">
                  <a:extLst>
                    <a:ext uri="{9D8B030D-6E8A-4147-A177-3AD203B41FA5}">
                      <a16:colId xmlns:a16="http://schemas.microsoft.com/office/drawing/2014/main" val="35330997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rial Narrow" panose="020B0606020202030204" pitchFamily="34" charset="0"/>
                        </a:rPr>
                        <a:t>Winn-Dixie Store</a:t>
                      </a:r>
                      <a:endParaRPr lang="es-NI" sz="1600" dirty="0">
                        <a:solidFill>
                          <a:schemeClr val="bg1">
                            <a:lumMod val="95000"/>
                          </a:schemeClr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rial Narrow" panose="020B0606020202030204" pitchFamily="34" charset="0"/>
                        </a:rPr>
                        <a:t>BFWk3</a:t>
                      </a:r>
                      <a:endParaRPr lang="es-NI" sz="1600" dirty="0">
                        <a:solidFill>
                          <a:schemeClr val="bg1">
                            <a:lumMod val="95000"/>
                          </a:schemeClr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rial Narrow" panose="020B0606020202030204" pitchFamily="34" charset="0"/>
                        </a:rPr>
                        <a:t>P2DWk2</a:t>
                      </a:r>
                      <a:endParaRPr lang="es-NI" sz="1600" dirty="0">
                        <a:solidFill>
                          <a:schemeClr val="bg1">
                            <a:lumMod val="95000"/>
                          </a:schemeClr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rial Narrow" panose="020B0606020202030204" pitchFamily="34" charset="0"/>
                        </a:rPr>
                        <a:t>Market Shift</a:t>
                      </a:r>
                      <a:endParaRPr lang="es-NI" sz="1600" dirty="0">
                        <a:solidFill>
                          <a:schemeClr val="bg1">
                            <a:lumMod val="95000"/>
                          </a:schemeClr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rial Narrow" panose="020B0606020202030204" pitchFamily="34" charset="0"/>
                        </a:rPr>
                        <a:t>Primary Threat</a:t>
                      </a:r>
                      <a:endParaRPr lang="es-NI" sz="1600" dirty="0">
                        <a:solidFill>
                          <a:schemeClr val="bg1">
                            <a:lumMod val="95000"/>
                          </a:schemeClr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9E9E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09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Winn-Dixie 267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55.31%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47.47%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-7.84%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</a:rPr>
                        <a:t>Publix Super Market At Marathon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996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Winn-Dixie 86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34.24%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22.46%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404040"/>
                          </a:solidFill>
                          <a:latin typeface="Arial Narrow" panose="020B0606020202030204" pitchFamily="34" charset="0"/>
                        </a:rPr>
                        <a:t>-11.78%</a:t>
                      </a:r>
                      <a:endParaRPr lang="es-NI" sz="1600" dirty="0">
                        <a:solidFill>
                          <a:srgbClr val="40404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</a:rPr>
                        <a:t>Publix Super Market at Lake Ella Plaza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384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44671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lineChart ,lineChart ,Ad. Card - Demo Period ,slicer ,slicer ,shape ,shape ,Ad. Card - Demo Period ,Ad. Card - Demo Period ,image ,RED STORES ,GREEN STORES ,AMBER STORES ,Ad. Card - Demo Period ,Ad. Card - Demo Period ,Ad. Card - Demo Period ,Ad. Card - Demo Period. Please refer to the notes on this slide for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VFs - New 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lineChart ,lineChart ,Ad. Card - Demo Period ,slicer ,slicer ,Ad. Card - Demo Period ,Line Chart - Visits ,Ad. Card - Demo Period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VF 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lineChart ,lineChart ,Ad. Card - Demo Period ,slicer ,slicer ,Ad. Card - Demo Period ,Line Chart - Visits ,Ad. Card - Demo Period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VF 1-3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lineChart ,lineChart ,Ad. Card - Demo Period ,slicer ,slicer ,Line Chart - Visits ,Ad. Card - Demo Period ,Ad. Card - Demo Period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VF 4+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lineChart ,lineChart ,Ad. Card - Demo Period ,slicer ,slicer ,shape ,shape ,Ad. Card - Demo Period ,Ad. Card - Demo Period ,Winn-Dixie 86 ,image ,Winn-Dixie 123 ,Winn-Dixie 267 ,Winn-Dixie 336. Please refer to the notes on this slide for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VFs - 1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lineChart ,lineChart ,Ad. Card - Demo Period ,slicer ,slicer ,shape ,shape ,Ad. Card - Demo Period ,Ad. Card - Demo Period ,Winn-Dixie 343 ,image ,Winn-Dixie 349 ,Winn-Dixie 358 ,Winn-Dixie 381. Please refer to the notes on this slide for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VFs - 2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lineChart ,lineChart ,Ad. Card - Demo Period ,slicer ,slicer ,shape ,shape ,Ad. Card - Demo Period ,Ad. Card - Demo Period ,Winn-Dixie 436 ,image ,Winn-Dixie 481 ,Winn-Dixie 493 ,Winn-Dixie 711. Please refer to the notes on this slide for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VFs - 3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lineChart ,lineChart ,Ad. Card - Demo Period ,slicer ,slicer ,shape ,shape ,Ad. Card - Demo Period ,Ad. Card - Demo Period ,Winn-Dixie 726 ,image ,Winn-Dixie 2269 ,Winn-Dixie 2288 ,Winn-Dixie 2423. Please refer to the notes on this slide for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VFs - 4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lineChart ,lineChart ,Ad. Card - Demo Period ,slicer ,slicer ,shape ,shape ,Ad. Card - Demo Period ,Ad. Card - Demo Period ,Winn-Dixie 2437 ,image ,Winn-Dixie 2448 ,Winn-Dixie 2556 ,Winn-Dixie 2568. Please refer to the notes on this slide for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VFs - 5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9c2afac-37be-4903-998d-4f673aac838e">
      <Terms xmlns="http://schemas.microsoft.com/office/infopath/2007/PartnerControls"/>
    </lcf76f155ced4ddcb4097134ff3c332f>
    <TaxCatchAll xmlns="383eccd1-f7c9-4e76-85ed-438e1419164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A03EC303A39E4D8ABEF273CF9C0CE3" ma:contentTypeVersion="14" ma:contentTypeDescription="Create a new document." ma:contentTypeScope="" ma:versionID="dafd57b1fb0e7851021af9075a72897d">
  <xsd:schema xmlns:xsd="http://www.w3.org/2001/XMLSchema" xmlns:xs="http://www.w3.org/2001/XMLSchema" xmlns:p="http://schemas.microsoft.com/office/2006/metadata/properties" xmlns:ns2="59c2afac-37be-4903-998d-4f673aac838e" xmlns:ns3="383eccd1-f7c9-4e76-85ed-438e14191641" targetNamespace="http://schemas.microsoft.com/office/2006/metadata/properties" ma:root="true" ma:fieldsID="7f38fb620ec5167dc023e948f53be2c3" ns2:_="" ns3:_="">
    <xsd:import namespace="59c2afac-37be-4903-998d-4f673aac838e"/>
    <xsd:import namespace="383eccd1-f7c9-4e76-85ed-438e141916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c2afac-37be-4903-998d-4f673aac83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7dea0184-1093-481c-9e9d-639929ddcd6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3eccd1-f7c9-4e76-85ed-438e14191641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a12b85f4-23bb-4f32-b3b3-2fc24c076657}" ma:internalName="TaxCatchAll" ma:showField="CatchAllData" ma:web="383eccd1-f7c9-4e76-85ed-438e141916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BEBBD8-5DF8-40B6-808F-595CFBA558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B887DC1-569B-4E68-B90B-676FB9A792C0}">
  <ds:schemaRefs>
    <ds:schemaRef ds:uri="http://purl.org/dc/dcmitype/"/>
    <ds:schemaRef ds:uri="383eccd1-f7c9-4e76-85ed-438e14191641"/>
    <ds:schemaRef ds:uri="http://schemas.microsoft.com/office/2006/documentManagement/types"/>
    <ds:schemaRef ds:uri="http://purl.org/dc/elements/1.1/"/>
    <ds:schemaRef ds:uri="http://schemas.microsoft.com/office/2006/metadata/properties"/>
    <ds:schemaRef ds:uri="59c2afac-37be-4903-998d-4f673aac838e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2F3704F-44B2-4AA1-818C-9C6223988374}">
  <ds:schemaRefs>
    <ds:schemaRef ds:uri="383eccd1-f7c9-4e76-85ed-438e14191641"/>
    <ds:schemaRef ds:uri="59c2afac-37be-4903-998d-4f673aac838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320</TotalTime>
  <Words>3397</Words>
  <Application>Microsoft Office PowerPoint</Application>
  <PresentationFormat>Widescreen</PresentationFormat>
  <Paragraphs>1293</Paragraphs>
  <Slides>47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5" baseType="lpstr">
      <vt:lpstr>Aptos</vt:lpstr>
      <vt:lpstr>Arial</vt:lpstr>
      <vt:lpstr>Arial Narrow</vt:lpstr>
      <vt:lpstr>Arial Nova Cond</vt:lpstr>
      <vt:lpstr>Calibri</vt:lpstr>
      <vt:lpstr>Calibri Light</vt:lpstr>
      <vt:lpstr>Wingdings</vt:lpstr>
      <vt:lpstr>Custom Design</vt:lpstr>
      <vt:lpstr>Campaign Summary</vt:lpstr>
      <vt:lpstr>Cover</vt:lpstr>
      <vt:lpstr>Analytics 2</vt:lpstr>
      <vt:lpstr>CPV's</vt:lpstr>
      <vt:lpstr>Visits</vt:lpstr>
      <vt:lpstr>CTR</vt:lpstr>
      <vt:lpstr>Views</vt:lpstr>
      <vt:lpstr>Competitors 01</vt:lpstr>
      <vt:lpstr>Competitors 02</vt:lpstr>
      <vt:lpstr>Demo 01</vt:lpstr>
      <vt:lpstr>Demo 02</vt:lpstr>
      <vt:lpstr>DSEG1</vt:lpstr>
      <vt:lpstr>DSEG2</vt:lpstr>
      <vt:lpstr>Campaign Summary</vt:lpstr>
      <vt:lpstr>Cover</vt:lpstr>
      <vt:lpstr>Analytics</vt:lpstr>
      <vt:lpstr>CPV's</vt:lpstr>
      <vt:lpstr>PowerPoint Presentation</vt:lpstr>
      <vt:lpstr>CTR</vt:lpstr>
      <vt:lpstr>Views</vt:lpstr>
      <vt:lpstr>Analytics</vt:lpstr>
      <vt:lpstr>Analytics</vt:lpstr>
      <vt:lpstr>CD - 1</vt:lpstr>
      <vt:lpstr>CD - 2</vt:lpstr>
      <vt:lpstr>CD - 3</vt:lpstr>
      <vt:lpstr>CD - 4</vt:lpstr>
      <vt:lpstr>CD - 5</vt:lpstr>
      <vt:lpstr>CD - 6</vt:lpstr>
      <vt:lpstr>CD - 7</vt:lpstr>
      <vt:lpstr>CD - 8</vt:lpstr>
      <vt:lpstr>CD - 9</vt:lpstr>
      <vt:lpstr>CD - 10</vt:lpstr>
      <vt:lpstr>Executive 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VFs - New 1</vt:lpstr>
      <vt:lpstr>VF 0</vt:lpstr>
      <vt:lpstr>VF 1-3</vt:lpstr>
      <vt:lpstr>VF 4+</vt:lpstr>
      <vt:lpstr>VFs - 1</vt:lpstr>
      <vt:lpstr>VFs - 2</vt:lpstr>
      <vt:lpstr>VFs - 3</vt:lpstr>
      <vt:lpstr>VFs - 4</vt:lpstr>
      <vt:lpstr>VFs - 5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Amelia Green</cp:lastModifiedBy>
  <cp:revision>31</cp:revision>
  <dcterms:created xsi:type="dcterms:W3CDTF">2016-09-04T11:54:55Z</dcterms:created>
  <dcterms:modified xsi:type="dcterms:W3CDTF">2026-02-10T15:30:10Z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0x010100E0A03EC303A39E4D8ABEF273CF9C0CE3</vt:lpwstr>
  </property>
</Properties>
</file>